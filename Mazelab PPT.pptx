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63" r:id="rId2"/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8288000" cy="10287000"/>
  <p:notesSz cx="6858000" cy="9144000"/>
  <p:embeddedFontLst>
    <p:embeddedFont>
      <p:font typeface="Aileron" panose="020B0604020202020204" charset="0"/>
      <p:regular r:id="rId10"/>
    </p:embeddedFont>
    <p:embeddedFont>
      <p:font typeface="Aileron Bold" panose="020B0604020202020204" charset="0"/>
      <p:regular r:id="rId11"/>
    </p:embeddedFont>
    <p:embeddedFont>
      <p:font typeface="Aileron Ultra-Bold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100" y="2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4.png"/><Relationship Id="rId18" Type="http://schemas.openxmlformats.org/officeDocument/2006/relationships/image" Target="../media/image3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33.png"/><Relationship Id="rId17" Type="http://schemas.openxmlformats.org/officeDocument/2006/relationships/image" Target="../media/image38.png"/><Relationship Id="rId2" Type="http://schemas.openxmlformats.org/officeDocument/2006/relationships/image" Target="../media/image23.png"/><Relationship Id="rId16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5" Type="http://schemas.openxmlformats.org/officeDocument/2006/relationships/image" Target="../media/image3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Relationship Id="rId14" Type="http://schemas.openxmlformats.org/officeDocument/2006/relationships/image" Target="../media/image3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13" Type="http://schemas.openxmlformats.org/officeDocument/2006/relationships/image" Target="../media/image51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12" Type="http://schemas.openxmlformats.org/officeDocument/2006/relationships/image" Target="../media/image50.png"/><Relationship Id="rId2" Type="http://schemas.openxmlformats.org/officeDocument/2006/relationships/image" Target="../media/image40.png"/><Relationship Id="rId16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11" Type="http://schemas.openxmlformats.org/officeDocument/2006/relationships/image" Target="../media/image49.png"/><Relationship Id="rId5" Type="http://schemas.openxmlformats.org/officeDocument/2006/relationships/image" Target="../media/image43.png"/><Relationship Id="rId15" Type="http://schemas.openxmlformats.org/officeDocument/2006/relationships/image" Target="../media/image53.png"/><Relationship Id="rId10" Type="http://schemas.openxmlformats.org/officeDocument/2006/relationships/image" Target="../media/image48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Relationship Id="rId14" Type="http://schemas.openxmlformats.org/officeDocument/2006/relationships/image" Target="../media/image5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13" Type="http://schemas.openxmlformats.org/officeDocument/2006/relationships/image" Target="../media/image66.png"/><Relationship Id="rId18" Type="http://schemas.openxmlformats.org/officeDocument/2006/relationships/image" Target="../media/image71.png"/><Relationship Id="rId3" Type="http://schemas.openxmlformats.org/officeDocument/2006/relationships/image" Target="../media/image56.png"/><Relationship Id="rId21" Type="http://schemas.openxmlformats.org/officeDocument/2006/relationships/image" Target="../media/image74.png"/><Relationship Id="rId7" Type="http://schemas.openxmlformats.org/officeDocument/2006/relationships/image" Target="../media/image60.png"/><Relationship Id="rId12" Type="http://schemas.openxmlformats.org/officeDocument/2006/relationships/image" Target="../media/image65.png"/><Relationship Id="rId17" Type="http://schemas.openxmlformats.org/officeDocument/2006/relationships/image" Target="../media/image70.png"/><Relationship Id="rId25" Type="http://schemas.openxmlformats.org/officeDocument/2006/relationships/image" Target="../media/image78.png"/><Relationship Id="rId2" Type="http://schemas.openxmlformats.org/officeDocument/2006/relationships/image" Target="../media/image55.png"/><Relationship Id="rId16" Type="http://schemas.openxmlformats.org/officeDocument/2006/relationships/image" Target="../media/image69.png"/><Relationship Id="rId20" Type="http://schemas.openxmlformats.org/officeDocument/2006/relationships/image" Target="../media/image7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.png"/><Relationship Id="rId11" Type="http://schemas.openxmlformats.org/officeDocument/2006/relationships/image" Target="../media/image64.png"/><Relationship Id="rId24" Type="http://schemas.openxmlformats.org/officeDocument/2006/relationships/image" Target="../media/image77.png"/><Relationship Id="rId5" Type="http://schemas.openxmlformats.org/officeDocument/2006/relationships/image" Target="../media/image58.png"/><Relationship Id="rId15" Type="http://schemas.openxmlformats.org/officeDocument/2006/relationships/image" Target="../media/image68.png"/><Relationship Id="rId23" Type="http://schemas.openxmlformats.org/officeDocument/2006/relationships/image" Target="../media/image76.png"/><Relationship Id="rId10" Type="http://schemas.openxmlformats.org/officeDocument/2006/relationships/image" Target="../media/image63.png"/><Relationship Id="rId19" Type="http://schemas.openxmlformats.org/officeDocument/2006/relationships/image" Target="../media/image72.png"/><Relationship Id="rId4" Type="http://schemas.openxmlformats.org/officeDocument/2006/relationships/image" Target="../media/image57.png"/><Relationship Id="rId9" Type="http://schemas.openxmlformats.org/officeDocument/2006/relationships/image" Target="../media/image62.png"/><Relationship Id="rId14" Type="http://schemas.openxmlformats.org/officeDocument/2006/relationships/image" Target="../media/image67.png"/><Relationship Id="rId22" Type="http://schemas.openxmlformats.org/officeDocument/2006/relationships/image" Target="../media/image7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694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915732" y="2142670"/>
            <a:ext cx="10456536" cy="437279"/>
          </a:xfrm>
          <a:custGeom>
            <a:avLst/>
            <a:gdLst/>
            <a:ahLst/>
            <a:cxnLst/>
            <a:rect l="l" t="t" r="r" b="b"/>
            <a:pathLst>
              <a:path w="10456536" h="437279">
                <a:moveTo>
                  <a:pt x="0" y="0"/>
                </a:moveTo>
                <a:lnTo>
                  <a:pt x="10456536" y="0"/>
                </a:lnTo>
                <a:lnTo>
                  <a:pt x="1045653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714544" y="2589474"/>
            <a:ext cx="11133576" cy="7994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68"/>
              </a:lnSpc>
            </a:pPr>
            <a:r>
              <a:rPr lang="en-US" sz="2723" b="1">
                <a:solidFill>
                  <a:srgbClr val="FFFFFF"/>
                </a:solidFill>
                <a:latin typeface="Now Medium"/>
                <a:ea typeface="Now Medium"/>
                <a:cs typeface="Now Medium"/>
                <a:sym typeface="Now Medium"/>
              </a:rPr>
              <a:t>A Constituent Unit of </a:t>
            </a:r>
          </a:p>
          <a:p>
            <a:pPr algn="ctr">
              <a:lnSpc>
                <a:spcPts val="3268"/>
              </a:lnSpc>
            </a:pPr>
            <a:r>
              <a:rPr lang="en-US" sz="2723" b="1">
                <a:solidFill>
                  <a:srgbClr val="FFFFFF"/>
                </a:solidFill>
                <a:latin typeface="Now Medium"/>
                <a:ea typeface="Now Medium"/>
                <a:cs typeface="Now Medium"/>
                <a:sym typeface="Now Medium"/>
              </a:rPr>
              <a:t>MALLA REDDY VISHWAVIDYAPEETH </a:t>
            </a:r>
          </a:p>
        </p:txBody>
      </p:sp>
      <p:sp>
        <p:nvSpPr>
          <p:cNvPr id="5" name="Freeform 5"/>
          <p:cNvSpPr/>
          <p:nvPr/>
        </p:nvSpPr>
        <p:spPr>
          <a:xfrm>
            <a:off x="864086" y="605845"/>
            <a:ext cx="2625072" cy="2372241"/>
          </a:xfrm>
          <a:custGeom>
            <a:avLst/>
            <a:gdLst/>
            <a:ahLst/>
            <a:cxnLst/>
            <a:rect l="l" t="t" r="r" b="b"/>
            <a:pathLst>
              <a:path w="2625072" h="2372241">
                <a:moveTo>
                  <a:pt x="0" y="0"/>
                </a:moveTo>
                <a:lnTo>
                  <a:pt x="2625072" y="0"/>
                </a:lnTo>
                <a:lnTo>
                  <a:pt x="2625072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8925244" y="4285339"/>
            <a:ext cx="218756" cy="2361309"/>
          </a:xfrm>
          <a:custGeom>
            <a:avLst/>
            <a:gdLst/>
            <a:ahLst/>
            <a:cxnLst/>
            <a:rect l="l" t="t" r="r" b="b"/>
            <a:pathLst>
              <a:path w="218756" h="2361309">
                <a:moveTo>
                  <a:pt x="0" y="0"/>
                </a:moveTo>
                <a:lnTo>
                  <a:pt x="218756" y="0"/>
                </a:lnTo>
                <a:lnTo>
                  <a:pt x="218756" y="2361309"/>
                </a:lnTo>
                <a:lnTo>
                  <a:pt x="0" y="23613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5564488" y="398138"/>
            <a:ext cx="2187560" cy="2579949"/>
          </a:xfrm>
          <a:custGeom>
            <a:avLst/>
            <a:gdLst/>
            <a:ahLst/>
            <a:cxnLst/>
            <a:rect l="l" t="t" r="r" b="b"/>
            <a:pathLst>
              <a:path w="2187560" h="2579949">
                <a:moveTo>
                  <a:pt x="0" y="0"/>
                </a:moveTo>
                <a:lnTo>
                  <a:pt x="2187560" y="0"/>
                </a:lnTo>
                <a:lnTo>
                  <a:pt x="2187560" y="2579948"/>
                </a:lnTo>
                <a:lnTo>
                  <a:pt x="0" y="257994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7324516" y="4048844"/>
            <a:ext cx="3913632" cy="6121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28"/>
              </a:lnSpc>
            </a:pPr>
            <a:r>
              <a:rPr lang="en-US" sz="2023" b="1">
                <a:solidFill>
                  <a:srgbClr val="FFFFFF"/>
                </a:solidFill>
                <a:latin typeface="Now Medium"/>
                <a:ea typeface="Now Medium"/>
                <a:cs typeface="Now Medium"/>
                <a:sym typeface="Now Medium"/>
              </a:rPr>
              <a:t>Maisammaguda, Medchal (Dist), Hyderabad, Telangana</a:t>
            </a:r>
          </a:p>
        </p:txBody>
      </p:sp>
      <p:sp>
        <p:nvSpPr>
          <p:cNvPr id="9" name="Freeform 9"/>
          <p:cNvSpPr/>
          <p:nvPr/>
        </p:nvSpPr>
        <p:spPr>
          <a:xfrm>
            <a:off x="4134488" y="9423373"/>
            <a:ext cx="875024" cy="863627"/>
          </a:xfrm>
          <a:custGeom>
            <a:avLst/>
            <a:gdLst/>
            <a:ahLst/>
            <a:cxnLst/>
            <a:rect l="l" t="t" r="r" b="b"/>
            <a:pathLst>
              <a:path w="875024" h="863627">
                <a:moveTo>
                  <a:pt x="0" y="0"/>
                </a:moveTo>
                <a:lnTo>
                  <a:pt x="875024" y="0"/>
                </a:lnTo>
                <a:lnTo>
                  <a:pt x="875024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5084064" y="9728261"/>
            <a:ext cx="8705088" cy="284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9"/>
              </a:lnSpc>
            </a:pPr>
            <a:r>
              <a:rPr lang="en-US" sz="1916" b="1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EDUCATION      INNOVATION      EXCELLENCE      SERVICE TO SOCIETY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443216" y="3560366"/>
            <a:ext cx="3474720" cy="317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4"/>
              </a:lnSpc>
            </a:pPr>
            <a:r>
              <a:rPr lang="en-US" sz="2095" b="1">
                <a:solidFill>
                  <a:srgbClr val="FFFFFF"/>
                </a:solidFill>
                <a:latin typeface="Now Medium"/>
                <a:ea typeface="Now Medium"/>
                <a:cs typeface="Now Medium"/>
                <a:sym typeface="Now Medium"/>
              </a:rPr>
              <a:t>(Deemed to be University)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035175" y="175431"/>
            <a:ext cx="10103770" cy="23596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228"/>
              </a:lnSpc>
            </a:pPr>
            <a:r>
              <a:rPr lang="en-US" sz="6600" b="1" dirty="0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MALLA REDDY</a:t>
            </a:r>
          </a:p>
          <a:p>
            <a:pPr algn="ctr">
              <a:lnSpc>
                <a:spcPts val="9228"/>
              </a:lnSpc>
            </a:pPr>
            <a:r>
              <a:rPr lang="en-US" sz="6600" b="1" dirty="0">
                <a:solidFill>
                  <a:srgbClr val="1A79E1"/>
                </a:solidFill>
                <a:latin typeface="Now Bold"/>
                <a:ea typeface="Now Bold"/>
                <a:cs typeface="Now Bold"/>
                <a:sym typeface="Now Bold"/>
              </a:rPr>
              <a:t>TECHNICAL CAMPUS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705856" y="196628"/>
            <a:ext cx="6876288" cy="1180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28"/>
              </a:lnSpc>
            </a:pPr>
            <a:endParaRPr lang="en-US" sz="7690" b="1" dirty="0">
              <a:solidFill>
                <a:srgbClr val="FFFFFF"/>
              </a:solidFill>
              <a:latin typeface="Now Bold"/>
              <a:ea typeface="Now Bold"/>
              <a:cs typeface="Now Bold"/>
              <a:sym typeface="Now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689388" y="4758740"/>
            <a:ext cx="6594791" cy="729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5"/>
              </a:lnSpc>
            </a:pPr>
            <a:r>
              <a:rPr lang="en-US" sz="5004" dirty="0">
                <a:solidFill>
                  <a:srgbClr val="FFFFFF"/>
                </a:solidFill>
                <a:latin typeface="Prata"/>
                <a:ea typeface="Prata"/>
                <a:cs typeface="Prata"/>
                <a:sym typeface="Prata"/>
              </a:rPr>
              <a:t>PRESENTRED BY: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9388" y="6934023"/>
            <a:ext cx="12991532" cy="18067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467"/>
              </a:lnSpc>
            </a:pPr>
            <a:r>
              <a:rPr lang="en-US" sz="3650" dirty="0">
                <a:solidFill>
                  <a:srgbClr val="FFFFFF"/>
                </a:solidFill>
                <a:latin typeface="Le Jour Serif"/>
                <a:ea typeface="Le Jour Serif"/>
                <a:cs typeface="Le Jour Serif"/>
                <a:sym typeface="Le Jour Serif"/>
              </a:rPr>
              <a:t>KVS AKSHITH     --25MVCSMR0232(L)</a:t>
            </a:r>
          </a:p>
          <a:p>
            <a:pPr>
              <a:lnSpc>
                <a:spcPts val="3467"/>
              </a:lnSpc>
            </a:pPr>
            <a:r>
              <a:rPr lang="en-US" sz="3650" dirty="0">
                <a:solidFill>
                  <a:srgbClr val="FFFFFF"/>
                </a:solidFill>
                <a:latin typeface="Le Jour Serif"/>
                <a:ea typeface="Le Jour Serif"/>
                <a:cs typeface="Le Jour Serif"/>
                <a:sym typeface="Le Jour Serif"/>
              </a:rPr>
              <a:t>D GOPICHAND  --25MVCSMR0210</a:t>
            </a:r>
          </a:p>
          <a:p>
            <a:pPr>
              <a:lnSpc>
                <a:spcPts val="3467"/>
              </a:lnSpc>
            </a:pPr>
            <a:r>
              <a:rPr lang="en-US" sz="3650" dirty="0">
                <a:solidFill>
                  <a:srgbClr val="FFFFFF"/>
                </a:solidFill>
                <a:latin typeface="Le Jour Serif"/>
                <a:ea typeface="Le Jour Serif"/>
                <a:cs typeface="Le Jour Serif"/>
                <a:sym typeface="Le Jour Serif"/>
              </a:rPr>
              <a:t>M SANJAY          --25MVCSMR0246</a:t>
            </a:r>
          </a:p>
          <a:p>
            <a:pPr>
              <a:lnSpc>
                <a:spcPts val="3467"/>
              </a:lnSpc>
            </a:pPr>
            <a:r>
              <a:rPr lang="en-US" sz="3650" dirty="0">
                <a:solidFill>
                  <a:srgbClr val="FFFFFF"/>
                </a:solidFill>
                <a:latin typeface="Le Jour Serif"/>
                <a:ea typeface="Le Jour Serif"/>
                <a:cs typeface="Le Jour Serif"/>
                <a:sym typeface="Le Jour Serif"/>
              </a:rPr>
              <a:t>T PRANAV TEJA --25MVCSMR0269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6940" y="5605339"/>
            <a:ext cx="5099307" cy="761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61"/>
              </a:lnSpc>
            </a:pPr>
            <a:r>
              <a:rPr lang="en-US" sz="4849" spc="242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TEAM 20 -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232562" y="5582905"/>
            <a:ext cx="10464638" cy="7694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047"/>
              </a:lnSpc>
            </a:pPr>
            <a:r>
              <a:rPr lang="en-US" sz="5497" b="1" i="1" spc="236" dirty="0">
                <a:solidFill>
                  <a:srgbClr val="FFFFFF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MAZELAB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r>
              <a:rPr lang="en-IN" dirty="0"/>
              <a:t>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Freeform 3"/>
          <p:cNvSpPr/>
          <p:nvPr/>
        </p:nvSpPr>
        <p:spPr>
          <a:xfrm>
            <a:off x="8050220" y="1497682"/>
            <a:ext cx="10237780" cy="7291635"/>
          </a:xfrm>
          <a:custGeom>
            <a:avLst/>
            <a:gdLst/>
            <a:ahLst/>
            <a:cxnLst/>
            <a:rect l="l" t="t" r="r" b="b"/>
            <a:pathLst>
              <a:path w="10237780" h="7291635">
                <a:moveTo>
                  <a:pt x="0" y="0"/>
                </a:moveTo>
                <a:lnTo>
                  <a:pt x="10237780" y="0"/>
                </a:lnTo>
                <a:lnTo>
                  <a:pt x="10237780" y="7291636"/>
                </a:lnTo>
                <a:lnTo>
                  <a:pt x="0" y="72916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627444" y="1818801"/>
            <a:ext cx="6907194" cy="1604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050"/>
              </a:lnSpc>
            </a:pPr>
            <a:r>
              <a:rPr lang="en-US" sz="12050" b="1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MazeLab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85445" y="3481787"/>
            <a:ext cx="6464852" cy="1213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89"/>
              </a:lnSpc>
            </a:pPr>
            <a:r>
              <a:rPr lang="en-US" sz="4073" b="1">
                <a:solidFill>
                  <a:srgbClr val="7B82ED"/>
                </a:solidFill>
                <a:latin typeface="Aileron Bold"/>
                <a:ea typeface="Aileron Bold"/>
                <a:cs typeface="Aileron Bold"/>
                <a:sym typeface="Aileron Bold"/>
              </a:rPr>
              <a:t>Interactive Maze Solver &amp; Algorithm Visualizer</a:t>
            </a:r>
          </a:p>
        </p:txBody>
      </p:sp>
      <p:sp>
        <p:nvSpPr>
          <p:cNvPr id="6" name="Freeform 6"/>
          <p:cNvSpPr/>
          <p:nvPr/>
        </p:nvSpPr>
        <p:spPr>
          <a:xfrm>
            <a:off x="645330" y="4919394"/>
            <a:ext cx="6759560" cy="229572"/>
          </a:xfrm>
          <a:custGeom>
            <a:avLst/>
            <a:gdLst/>
            <a:ahLst/>
            <a:cxnLst/>
            <a:rect l="l" t="t" r="r" b="b"/>
            <a:pathLst>
              <a:path w="6759560" h="229572">
                <a:moveTo>
                  <a:pt x="0" y="0"/>
                </a:moveTo>
                <a:lnTo>
                  <a:pt x="6759560" y="0"/>
                </a:lnTo>
                <a:lnTo>
                  <a:pt x="6759560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698114" y="5537124"/>
            <a:ext cx="5197977" cy="879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53"/>
              </a:lnSpc>
            </a:pPr>
            <a:r>
              <a:rPr lang="en-US" sz="2707" spc="-54">
                <a:solidFill>
                  <a:srgbClr val="FFFFFF">
                    <a:alpha val="84706"/>
                  </a:srgbClr>
                </a:solidFill>
                <a:latin typeface="Aileron"/>
                <a:ea typeface="Aileron"/>
                <a:cs typeface="Aileron"/>
                <a:sym typeface="Aileron"/>
              </a:rPr>
              <a:t>Visualize and compare BFS, DFS,</a:t>
            </a:r>
          </a:p>
          <a:p>
            <a:pPr algn="l">
              <a:lnSpc>
                <a:spcPts val="3653"/>
              </a:lnSpc>
            </a:pPr>
            <a:r>
              <a:rPr lang="en-US" sz="2707" spc="-54">
                <a:solidFill>
                  <a:srgbClr val="FFFFFF">
                    <a:alpha val="84706"/>
                  </a:srgbClr>
                </a:solidFill>
                <a:latin typeface="Aileron"/>
                <a:ea typeface="Aileron"/>
                <a:cs typeface="Aileron"/>
                <a:sym typeface="Aileron"/>
              </a:rPr>
              <a:t>and Backtracking solving mazes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82001" y="6997918"/>
            <a:ext cx="6809280" cy="401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6"/>
              </a:lnSpc>
            </a:pPr>
            <a:r>
              <a:rPr lang="en-US" sz="2487" spc="-49">
                <a:solidFill>
                  <a:srgbClr val="7B82ED">
                    <a:alpha val="84706"/>
                  </a:srgbClr>
                </a:solidFill>
                <a:latin typeface="Aileron"/>
                <a:ea typeface="Aileron"/>
                <a:cs typeface="Aileron"/>
                <a:sym typeface="Aileron"/>
              </a:rPr>
              <a:t>Problem Domain:  </a:t>
            </a:r>
            <a:r>
              <a:rPr lang="en-US" sz="2487" spc="-49">
                <a:solidFill>
                  <a:srgbClr val="FFFFFF">
                    <a:alpha val="84706"/>
                  </a:srgbClr>
                </a:solidFill>
                <a:latin typeface="Aileron"/>
                <a:ea typeface="Aileron"/>
                <a:cs typeface="Aileron"/>
                <a:sym typeface="Aileron"/>
              </a:rPr>
              <a:t>Data Structures &amp; Algorithms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16423" y="7645534"/>
            <a:ext cx="3367066" cy="401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6"/>
              </a:lnSpc>
            </a:pPr>
            <a:r>
              <a:rPr lang="en-US" sz="2487" spc="-49">
                <a:solidFill>
                  <a:srgbClr val="7B82ED">
                    <a:alpha val="84706"/>
                  </a:srgbClr>
                </a:solidFill>
                <a:latin typeface="Aileron"/>
                <a:ea typeface="Aileron"/>
                <a:cs typeface="Aileron"/>
                <a:sym typeface="Aileron"/>
              </a:rPr>
              <a:t>Event:  </a:t>
            </a:r>
            <a:r>
              <a:rPr lang="en-US" sz="2487" spc="-49">
                <a:solidFill>
                  <a:srgbClr val="FFFFFF">
                    <a:alpha val="84706"/>
                  </a:srgbClr>
                </a:solidFill>
                <a:latin typeface="Aileron"/>
                <a:ea typeface="Aileron"/>
                <a:cs typeface="Aileron"/>
                <a:sym typeface="Aileron"/>
              </a:rPr>
              <a:t>DAA Hackathon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27242" y="8443759"/>
            <a:ext cx="2285215" cy="401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6"/>
              </a:lnSpc>
            </a:pPr>
            <a:r>
              <a:rPr lang="en-US" sz="2487" spc="-49">
                <a:solidFill>
                  <a:srgbClr val="7B82ED">
                    <a:alpha val="84706"/>
                  </a:srgbClr>
                </a:solidFill>
                <a:latin typeface="Aileron"/>
                <a:ea typeface="Aileron"/>
                <a:cs typeface="Aileron"/>
                <a:sym typeface="Aileron"/>
              </a:rPr>
              <a:t>Team Members</a:t>
            </a:r>
          </a:p>
        </p:txBody>
      </p:sp>
      <p:sp>
        <p:nvSpPr>
          <p:cNvPr id="11" name="Freeform 11"/>
          <p:cNvSpPr/>
          <p:nvPr/>
        </p:nvSpPr>
        <p:spPr>
          <a:xfrm>
            <a:off x="645330" y="8997026"/>
            <a:ext cx="6978316" cy="218640"/>
          </a:xfrm>
          <a:custGeom>
            <a:avLst/>
            <a:gdLst/>
            <a:ahLst/>
            <a:cxnLst/>
            <a:rect l="l" t="t" r="r" b="b"/>
            <a:pathLst>
              <a:path w="6978316" h="218640">
                <a:moveTo>
                  <a:pt x="0" y="0"/>
                </a:moveTo>
                <a:lnTo>
                  <a:pt x="6978316" y="0"/>
                </a:lnTo>
                <a:lnTo>
                  <a:pt x="6978316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050220" y="1924030"/>
            <a:ext cx="10029962" cy="7083928"/>
          </a:xfrm>
          <a:custGeom>
            <a:avLst/>
            <a:gdLst/>
            <a:ahLst/>
            <a:cxnLst/>
            <a:rect l="l" t="t" r="r" b="b"/>
            <a:pathLst>
              <a:path w="10029962" h="7083928">
                <a:moveTo>
                  <a:pt x="0" y="0"/>
                </a:moveTo>
                <a:lnTo>
                  <a:pt x="10029962" y="0"/>
                </a:lnTo>
                <a:lnTo>
                  <a:pt x="10029962" y="7083927"/>
                </a:lnTo>
                <a:lnTo>
                  <a:pt x="0" y="70839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637496" y="742102"/>
            <a:ext cx="3223008" cy="455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64"/>
              </a:lnSpc>
            </a:pPr>
            <a:r>
              <a:rPr lang="en-US" sz="2896" b="1">
                <a:solidFill>
                  <a:srgbClr val="5D74D6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THE CHALLENGE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98741" y="1482714"/>
            <a:ext cx="7098539" cy="25889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67"/>
              </a:lnSpc>
            </a:pPr>
            <a:r>
              <a:rPr lang="en-US" sz="5969" b="1">
                <a:solidFill>
                  <a:srgbClr val="F4F4F4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Understanding Maze-Solving Algorithms is Hard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02129" y="4733225"/>
            <a:ext cx="6759800" cy="455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64"/>
              </a:lnSpc>
            </a:pPr>
            <a:r>
              <a:rPr lang="en-US" sz="2896">
                <a:solidFill>
                  <a:srgbClr val="F4F4F4"/>
                </a:solidFill>
                <a:latin typeface="Aileron"/>
                <a:ea typeface="Aileron"/>
                <a:cs typeface="Aileron"/>
                <a:sym typeface="Aileron"/>
              </a:rPr>
              <a:t>Code and theory are difficult to visualize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11111" y="5591693"/>
            <a:ext cx="5861596" cy="920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64"/>
              </a:lnSpc>
            </a:pPr>
            <a:r>
              <a:rPr lang="en-US" sz="2896">
                <a:solidFill>
                  <a:srgbClr val="F4F4F4"/>
                </a:solidFill>
                <a:latin typeface="Aileron"/>
                <a:ea typeface="Aileron"/>
                <a:cs typeface="Aileron"/>
                <a:sym typeface="Aileron"/>
              </a:rPr>
              <a:t>Different algorithms explore mazes</a:t>
            </a:r>
          </a:p>
          <a:p>
            <a:pPr algn="l">
              <a:lnSpc>
                <a:spcPts val="3764"/>
              </a:lnSpc>
            </a:pPr>
            <a:r>
              <a:rPr lang="en-US" sz="2896">
                <a:solidFill>
                  <a:srgbClr val="F4F4F4"/>
                </a:solidFill>
                <a:latin typeface="Aileron"/>
                <a:ea typeface="Aileron"/>
                <a:cs typeface="Aileron"/>
                <a:sym typeface="Aileron"/>
              </a:rPr>
              <a:t>in entirely different ways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07530" y="6901986"/>
            <a:ext cx="6219666" cy="920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64"/>
              </a:lnSpc>
            </a:pPr>
            <a:r>
              <a:rPr lang="en-US" sz="2896">
                <a:solidFill>
                  <a:srgbClr val="F4F4F4"/>
                </a:solidFill>
                <a:latin typeface="Aileron"/>
                <a:ea typeface="Aileron"/>
                <a:cs typeface="Aileron"/>
                <a:sym typeface="Aileron"/>
              </a:rPr>
              <a:t>Final paths hide the decision-making process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13041" y="8212279"/>
            <a:ext cx="5668557" cy="920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64"/>
              </a:lnSpc>
            </a:pPr>
            <a:r>
              <a:rPr lang="en-US" sz="2896">
                <a:solidFill>
                  <a:srgbClr val="F4F4F4"/>
                </a:solidFill>
                <a:latin typeface="Aileron"/>
                <a:ea typeface="Aileron"/>
                <a:cs typeface="Aileron"/>
                <a:sym typeface="Aileron"/>
              </a:rPr>
              <a:t>Students need interactive tools to</a:t>
            </a:r>
          </a:p>
          <a:p>
            <a:pPr algn="l">
              <a:lnSpc>
                <a:spcPts val="3764"/>
              </a:lnSpc>
            </a:pPr>
            <a:r>
              <a:rPr lang="en-US" sz="2896">
                <a:solidFill>
                  <a:srgbClr val="F4F4F4"/>
                </a:solidFill>
                <a:latin typeface="Aileron"/>
                <a:ea typeface="Aileron"/>
                <a:cs typeface="Aileron"/>
                <a:sym typeface="Aileron"/>
              </a:rPr>
              <a:t>compare and learn effectively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86763" y="772063"/>
            <a:ext cx="2938539" cy="4233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lang="en-US" sz="2654" b="1" spc="-79">
                <a:solidFill>
                  <a:srgbClr val="525FE1"/>
                </a:solidFill>
                <a:latin typeface="Aileron Bold"/>
                <a:ea typeface="Aileron Bold"/>
                <a:cs typeface="Aileron Bold"/>
                <a:sym typeface="Aileron Bold"/>
              </a:rPr>
              <a:t>OUR INNOVATION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0543" y="1447136"/>
            <a:ext cx="7560589" cy="19048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54"/>
              </a:lnSpc>
            </a:pPr>
            <a:r>
              <a:rPr lang="en-US" sz="6566" b="1" spc="-195">
                <a:solidFill>
                  <a:srgbClr val="F4F4F4"/>
                </a:solidFill>
                <a:latin typeface="Aileron Bold"/>
                <a:ea typeface="Aileron Bold"/>
                <a:cs typeface="Aileron Bold"/>
                <a:sym typeface="Aileron Bold"/>
              </a:rPr>
              <a:t>MazeLab’s Interactive Solution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2395" y="3769170"/>
            <a:ext cx="6375340" cy="4233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lang="en-US" sz="2654" spc="-79">
                <a:solidFill>
                  <a:srgbClr val="F4F4F4"/>
                </a:solidFill>
                <a:latin typeface="Aileron"/>
                <a:ea typeface="Aileron"/>
                <a:cs typeface="Aileron"/>
                <a:sym typeface="Aileron"/>
              </a:rPr>
              <a:t>Interactive maze generation and selection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306" y="4527932"/>
            <a:ext cx="5084214" cy="826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47"/>
              </a:lnSpc>
            </a:pPr>
            <a:r>
              <a:rPr lang="en-US" sz="2575" spc="-76">
                <a:solidFill>
                  <a:srgbClr val="F4F4F4"/>
                </a:solidFill>
                <a:latin typeface="Aileron"/>
                <a:ea typeface="Aileron"/>
                <a:cs typeface="Aileron"/>
                <a:sym typeface="Aileron"/>
              </a:rPr>
              <a:t>BFS, DFS, Backtracking algorithms</a:t>
            </a:r>
          </a:p>
          <a:p>
            <a:pPr algn="l">
              <a:lnSpc>
                <a:spcPts val="3347"/>
              </a:lnSpc>
            </a:pPr>
            <a:r>
              <a:rPr lang="en-US" sz="2575" spc="-76">
                <a:solidFill>
                  <a:srgbClr val="F4F4F4"/>
                </a:solidFill>
                <a:latin typeface="Aileron"/>
                <a:ea typeface="Aileron"/>
                <a:cs typeface="Aileron"/>
                <a:sym typeface="Aileron"/>
              </a:rPr>
              <a:t>visualized step-by-step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78598" y="5702678"/>
            <a:ext cx="3755013" cy="826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47"/>
              </a:lnSpc>
            </a:pPr>
            <a:r>
              <a:rPr lang="en-US" sz="2575" spc="-76">
                <a:solidFill>
                  <a:srgbClr val="F4F4F4"/>
                </a:solidFill>
                <a:latin typeface="Aileron"/>
                <a:ea typeface="Aileron"/>
                <a:cs typeface="Aileron"/>
                <a:sym typeface="Aileron"/>
              </a:rPr>
              <a:t>Animated exploration and</a:t>
            </a:r>
          </a:p>
          <a:p>
            <a:pPr algn="l">
              <a:lnSpc>
                <a:spcPts val="3347"/>
              </a:lnSpc>
            </a:pPr>
            <a:r>
              <a:rPr lang="en-US" sz="2575" spc="-76">
                <a:solidFill>
                  <a:srgbClr val="F4F4F4"/>
                </a:solidFill>
                <a:latin typeface="Aileron"/>
                <a:ea typeface="Aileron"/>
                <a:cs typeface="Aileron"/>
                <a:sym typeface="Aileron"/>
              </a:rPr>
              <a:t>final path display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48212" y="6877424"/>
            <a:ext cx="6793669" cy="826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47"/>
              </a:lnSpc>
            </a:pPr>
            <a:r>
              <a:rPr lang="en-US" sz="2575" spc="-76">
                <a:solidFill>
                  <a:srgbClr val="F4F4F4"/>
                </a:solidFill>
                <a:latin typeface="Aileron"/>
                <a:ea typeface="Aileron"/>
                <a:cs typeface="Aileron"/>
                <a:sym typeface="Aileron"/>
              </a:rPr>
              <a:t>Compare algorithm performance:</a:t>
            </a:r>
          </a:p>
          <a:p>
            <a:pPr algn="l">
              <a:lnSpc>
                <a:spcPts val="3347"/>
              </a:lnSpc>
            </a:pPr>
            <a:r>
              <a:rPr lang="en-US" sz="2575" spc="-76">
                <a:solidFill>
                  <a:srgbClr val="F4F4F4"/>
                </a:solidFill>
                <a:latin typeface="Aileron"/>
                <a:ea typeface="Aileron"/>
                <a:cs typeface="Aileron"/>
                <a:sym typeface="Aileron"/>
              </a:rPr>
              <a:t>path length, visited cells, execution time, steps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58855" y="8249526"/>
            <a:ext cx="5729325" cy="1125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27"/>
              </a:lnSpc>
            </a:pPr>
            <a:r>
              <a:rPr lang="en-US" sz="3304" b="1" spc="-98">
                <a:solidFill>
                  <a:srgbClr val="F4F4F4"/>
                </a:solidFill>
                <a:latin typeface="Aileron Bold"/>
                <a:ea typeface="Aileron Bold"/>
                <a:cs typeface="Aileron Bold"/>
                <a:sym typeface="Aileron Bold"/>
              </a:rPr>
              <a:t>Don’t just see the answer —</a:t>
            </a:r>
          </a:p>
          <a:p>
            <a:pPr algn="l">
              <a:lnSpc>
                <a:spcPts val="4627"/>
              </a:lnSpc>
            </a:pPr>
            <a:r>
              <a:rPr lang="en-US" sz="3304" b="1" spc="-98">
                <a:solidFill>
                  <a:srgbClr val="7F43E8"/>
                </a:solidFill>
                <a:latin typeface="Aileron Bold"/>
                <a:ea typeface="Aileron Bold"/>
                <a:cs typeface="Aileron Bold"/>
                <a:sym typeface="Aileron Bold"/>
              </a:rPr>
              <a:t>see how</a:t>
            </a:r>
            <a:r>
              <a:rPr lang="en-US" sz="3304" b="1" spc="-98">
                <a:solidFill>
                  <a:srgbClr val="F4F4F4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3304" b="1" spc="-98">
                <a:solidFill>
                  <a:srgbClr val="525FE1"/>
                </a:solidFill>
                <a:latin typeface="Aileron Bold"/>
                <a:ea typeface="Aileron Bold"/>
                <a:cs typeface="Aileron Bold"/>
                <a:sym typeface="Aileron Bold"/>
              </a:rPr>
              <a:t>the algorithm</a:t>
            </a:r>
            <a:r>
              <a:rPr lang="en-US" sz="3304" b="1" spc="-98">
                <a:solidFill>
                  <a:srgbClr val="F4F4F4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3304" b="1" spc="-98">
                <a:solidFill>
                  <a:srgbClr val="41B0E6"/>
                </a:solidFill>
                <a:latin typeface="Aileron Bold"/>
                <a:ea typeface="Aileron Bold"/>
                <a:cs typeface="Aileron Bold"/>
                <a:sym typeface="Aileron Bold"/>
              </a:rPr>
              <a:t>thinks.</a:t>
            </a:r>
          </a:p>
        </p:txBody>
      </p:sp>
      <p:sp>
        <p:nvSpPr>
          <p:cNvPr id="10" name="Freeform 10"/>
          <p:cNvSpPr/>
          <p:nvPr/>
        </p:nvSpPr>
        <p:spPr>
          <a:xfrm>
            <a:off x="8268976" y="634055"/>
            <a:ext cx="9154938" cy="5367606"/>
          </a:xfrm>
          <a:custGeom>
            <a:avLst/>
            <a:gdLst/>
            <a:ahLst/>
            <a:cxnLst/>
            <a:rect l="l" t="t" r="r" b="b"/>
            <a:pathLst>
              <a:path w="9154938" h="5367606">
                <a:moveTo>
                  <a:pt x="0" y="0"/>
                </a:moveTo>
                <a:lnTo>
                  <a:pt x="9154938" y="0"/>
                </a:lnTo>
                <a:lnTo>
                  <a:pt x="9154938" y="5367606"/>
                </a:lnTo>
                <a:lnTo>
                  <a:pt x="0" y="53676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7393952" y="5990729"/>
            <a:ext cx="3062584" cy="3662216"/>
          </a:xfrm>
          <a:custGeom>
            <a:avLst/>
            <a:gdLst/>
            <a:ahLst/>
            <a:cxnLst/>
            <a:rect l="l" t="t" r="r" b="b"/>
            <a:pathLst>
              <a:path w="3062584" h="3662216">
                <a:moveTo>
                  <a:pt x="0" y="0"/>
                </a:moveTo>
                <a:lnTo>
                  <a:pt x="3062584" y="0"/>
                </a:lnTo>
                <a:lnTo>
                  <a:pt x="3062584" y="3662216"/>
                </a:lnTo>
                <a:lnTo>
                  <a:pt x="0" y="36622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7612708" y="6854356"/>
            <a:ext cx="2625072" cy="2361309"/>
          </a:xfrm>
          <a:custGeom>
            <a:avLst/>
            <a:gdLst/>
            <a:ahLst/>
            <a:cxnLst/>
            <a:rect l="l" t="t" r="r" b="b"/>
            <a:pathLst>
              <a:path w="2625072" h="2361309">
                <a:moveTo>
                  <a:pt x="0" y="0"/>
                </a:moveTo>
                <a:lnTo>
                  <a:pt x="2625072" y="0"/>
                </a:lnTo>
                <a:lnTo>
                  <a:pt x="2625072" y="2361309"/>
                </a:lnTo>
                <a:lnTo>
                  <a:pt x="0" y="23613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0226842" y="7499343"/>
            <a:ext cx="885962" cy="437279"/>
          </a:xfrm>
          <a:custGeom>
            <a:avLst/>
            <a:gdLst/>
            <a:ahLst/>
            <a:cxnLst/>
            <a:rect l="l" t="t" r="r" b="b"/>
            <a:pathLst>
              <a:path w="885962" h="437279">
                <a:moveTo>
                  <a:pt x="0" y="0"/>
                </a:moveTo>
                <a:lnTo>
                  <a:pt x="885962" y="0"/>
                </a:lnTo>
                <a:lnTo>
                  <a:pt x="885962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0883110" y="5990729"/>
            <a:ext cx="3051646" cy="3662216"/>
          </a:xfrm>
          <a:custGeom>
            <a:avLst/>
            <a:gdLst/>
            <a:ahLst/>
            <a:cxnLst/>
            <a:rect l="l" t="t" r="r" b="b"/>
            <a:pathLst>
              <a:path w="3051646" h="3662216">
                <a:moveTo>
                  <a:pt x="0" y="0"/>
                </a:moveTo>
                <a:lnTo>
                  <a:pt x="3051646" y="0"/>
                </a:lnTo>
                <a:lnTo>
                  <a:pt x="3051646" y="3662216"/>
                </a:lnTo>
                <a:lnTo>
                  <a:pt x="0" y="366221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1101866" y="6854356"/>
            <a:ext cx="2614134" cy="2361309"/>
          </a:xfrm>
          <a:custGeom>
            <a:avLst/>
            <a:gdLst/>
            <a:ahLst/>
            <a:cxnLst/>
            <a:rect l="l" t="t" r="r" b="b"/>
            <a:pathLst>
              <a:path w="2614134" h="2361309">
                <a:moveTo>
                  <a:pt x="0" y="0"/>
                </a:moveTo>
                <a:lnTo>
                  <a:pt x="2614134" y="0"/>
                </a:lnTo>
                <a:lnTo>
                  <a:pt x="2614134" y="2361309"/>
                </a:lnTo>
                <a:lnTo>
                  <a:pt x="0" y="236130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3716000" y="7499343"/>
            <a:ext cx="875024" cy="437279"/>
          </a:xfrm>
          <a:custGeom>
            <a:avLst/>
            <a:gdLst/>
            <a:ahLst/>
            <a:cxnLst/>
            <a:rect l="l" t="t" r="r" b="b"/>
            <a:pathLst>
              <a:path w="875024" h="437279">
                <a:moveTo>
                  <a:pt x="0" y="0"/>
                </a:moveTo>
                <a:lnTo>
                  <a:pt x="875024" y="0"/>
                </a:lnTo>
                <a:lnTo>
                  <a:pt x="875024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4361330" y="5990729"/>
            <a:ext cx="3062584" cy="3662216"/>
          </a:xfrm>
          <a:custGeom>
            <a:avLst/>
            <a:gdLst/>
            <a:ahLst/>
            <a:cxnLst/>
            <a:rect l="l" t="t" r="r" b="b"/>
            <a:pathLst>
              <a:path w="3062584" h="3662216">
                <a:moveTo>
                  <a:pt x="0" y="0"/>
                </a:moveTo>
                <a:lnTo>
                  <a:pt x="3062584" y="0"/>
                </a:lnTo>
                <a:lnTo>
                  <a:pt x="3062584" y="3662216"/>
                </a:lnTo>
                <a:lnTo>
                  <a:pt x="0" y="366221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4580086" y="6854356"/>
            <a:ext cx="2625072" cy="2361309"/>
          </a:xfrm>
          <a:custGeom>
            <a:avLst/>
            <a:gdLst/>
            <a:ahLst/>
            <a:cxnLst/>
            <a:rect l="l" t="t" r="r" b="b"/>
            <a:pathLst>
              <a:path w="2625072" h="2361309">
                <a:moveTo>
                  <a:pt x="0" y="0"/>
                </a:moveTo>
                <a:lnTo>
                  <a:pt x="2625072" y="0"/>
                </a:lnTo>
                <a:lnTo>
                  <a:pt x="2625072" y="2361309"/>
                </a:lnTo>
                <a:lnTo>
                  <a:pt x="0" y="236130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14730061" y="6344709"/>
            <a:ext cx="2364212" cy="373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5"/>
              </a:lnSpc>
            </a:pPr>
            <a:r>
              <a:rPr lang="en-US" sz="2351" b="1" spc="-70">
                <a:solidFill>
                  <a:srgbClr val="24B0C6"/>
                </a:solidFill>
                <a:latin typeface="Aileron Bold"/>
                <a:ea typeface="Aileron Bold"/>
                <a:cs typeface="Aileron Bold"/>
                <a:sym typeface="Aileron Bold"/>
              </a:rPr>
              <a:t>BACKTRACKING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116138" y="6344709"/>
            <a:ext cx="573324" cy="373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5"/>
              </a:lnSpc>
            </a:pPr>
            <a:r>
              <a:rPr lang="en-US" sz="2351" b="1" spc="-70">
                <a:solidFill>
                  <a:srgbClr val="7F43E8"/>
                </a:solidFill>
                <a:latin typeface="Aileron Bold"/>
                <a:ea typeface="Aileron Bold"/>
                <a:cs typeface="Aileron Bold"/>
                <a:sym typeface="Aileron Bold"/>
              </a:rPr>
              <a:t>DFS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696548" y="6344709"/>
            <a:ext cx="554504" cy="373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5"/>
              </a:lnSpc>
            </a:pPr>
            <a:r>
              <a:rPr lang="en-US" sz="2351" b="1" spc="-70">
                <a:solidFill>
                  <a:srgbClr val="2D70E1"/>
                </a:solidFill>
                <a:latin typeface="Aileron Bold"/>
                <a:ea typeface="Aileron Bold"/>
                <a:cs typeface="Aileron Bold"/>
                <a:sym typeface="Aileron Bold"/>
              </a:rPr>
              <a:t>BFS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08761" y="926052"/>
            <a:ext cx="6096550" cy="10355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46"/>
              </a:lnSpc>
            </a:pPr>
            <a:r>
              <a:rPr lang="en-US" sz="7746" b="1" spc="-75">
                <a:solidFill>
                  <a:srgbClr val="F4F4F4"/>
                </a:solidFill>
                <a:latin typeface="Aileron Bold"/>
                <a:ea typeface="Aileron Bold"/>
                <a:cs typeface="Aileron Bold"/>
                <a:sym typeface="Aileron Bold"/>
              </a:rPr>
              <a:t>How It Works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872580" y="2159638"/>
            <a:ext cx="410895" cy="437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2"/>
              </a:lnSpc>
            </a:pPr>
            <a:r>
              <a:rPr lang="en-US" sz="2601" b="1" spc="-25">
                <a:solidFill>
                  <a:srgbClr val="4361D1"/>
                </a:solidFill>
                <a:latin typeface="Aileron Bold"/>
                <a:ea typeface="Aileron Bold"/>
                <a:cs typeface="Aileron Bold"/>
                <a:sym typeface="Aileron Bold"/>
              </a:rPr>
              <a:t>01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23433" y="2659456"/>
            <a:ext cx="1709189" cy="328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94"/>
              </a:lnSpc>
            </a:pPr>
            <a:r>
              <a:rPr lang="en-US" sz="1924" b="1" spc="-18">
                <a:solidFill>
                  <a:srgbClr val="FFFFFF">
                    <a:alpha val="84706"/>
                  </a:srgbClr>
                </a:solidFill>
                <a:latin typeface="Aileron Bold"/>
                <a:ea typeface="Aileron Bold"/>
                <a:cs typeface="Aileron Bold"/>
                <a:sym typeface="Aileron Bold"/>
              </a:rPr>
              <a:t>CREATE MAZE</a:t>
            </a:r>
          </a:p>
        </p:txBody>
      </p:sp>
      <p:sp>
        <p:nvSpPr>
          <p:cNvPr id="6" name="Freeform 6"/>
          <p:cNvSpPr/>
          <p:nvPr/>
        </p:nvSpPr>
        <p:spPr>
          <a:xfrm>
            <a:off x="645330" y="3214004"/>
            <a:ext cx="2843828" cy="2787657"/>
          </a:xfrm>
          <a:custGeom>
            <a:avLst/>
            <a:gdLst/>
            <a:ahLst/>
            <a:cxnLst/>
            <a:rect l="l" t="t" r="r" b="b"/>
            <a:pathLst>
              <a:path w="2843828" h="2787657">
                <a:moveTo>
                  <a:pt x="0" y="0"/>
                </a:moveTo>
                <a:lnTo>
                  <a:pt x="2843828" y="0"/>
                </a:lnTo>
                <a:lnTo>
                  <a:pt x="2843828" y="2787657"/>
                </a:lnTo>
                <a:lnTo>
                  <a:pt x="0" y="27876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170829" y="6018804"/>
            <a:ext cx="1814397" cy="665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0"/>
              </a:lnSpc>
            </a:pPr>
            <a:r>
              <a:rPr lang="en-US" sz="1986" spc="-19">
                <a:solidFill>
                  <a:srgbClr val="FFFFFF">
                    <a:alpha val="84706"/>
                  </a:srgbClr>
                </a:solidFill>
                <a:latin typeface="Aileron"/>
                <a:ea typeface="Aileron"/>
                <a:cs typeface="Aileron"/>
                <a:sym typeface="Aileron"/>
              </a:rPr>
              <a:t>Design or select</a:t>
            </a:r>
          </a:p>
          <a:p>
            <a:pPr algn="ctr">
              <a:lnSpc>
                <a:spcPts val="2780"/>
              </a:lnSpc>
            </a:pPr>
            <a:r>
              <a:rPr lang="en-US" sz="1986" spc="-19">
                <a:solidFill>
                  <a:srgbClr val="FFFFFF">
                    <a:alpha val="84706"/>
                  </a:srgbClr>
                </a:solidFill>
                <a:latin typeface="Aileron"/>
                <a:ea typeface="Aileron"/>
                <a:cs typeface="Aileron"/>
                <a:sym typeface="Aileron"/>
              </a:rPr>
              <a:t>a maze</a:t>
            </a:r>
          </a:p>
        </p:txBody>
      </p:sp>
      <p:sp>
        <p:nvSpPr>
          <p:cNvPr id="8" name="Freeform 8"/>
          <p:cNvSpPr/>
          <p:nvPr/>
        </p:nvSpPr>
        <p:spPr>
          <a:xfrm>
            <a:off x="3478220" y="4066699"/>
            <a:ext cx="667206" cy="655919"/>
          </a:xfrm>
          <a:custGeom>
            <a:avLst/>
            <a:gdLst/>
            <a:ahLst/>
            <a:cxnLst/>
            <a:rect l="l" t="t" r="r" b="b"/>
            <a:pathLst>
              <a:path w="667206" h="655919">
                <a:moveTo>
                  <a:pt x="0" y="0"/>
                </a:moveTo>
                <a:lnTo>
                  <a:pt x="667206" y="0"/>
                </a:lnTo>
                <a:lnTo>
                  <a:pt x="66720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5355158" y="2159638"/>
            <a:ext cx="410895" cy="437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2"/>
              </a:lnSpc>
            </a:pPr>
            <a:r>
              <a:rPr lang="en-US" sz="2601" b="1" spc="-25">
                <a:solidFill>
                  <a:srgbClr val="4361D1"/>
                </a:solidFill>
                <a:latin typeface="Aileron Bold"/>
                <a:ea typeface="Aileron Bold"/>
                <a:cs typeface="Aileron Bold"/>
                <a:sym typeface="Aileron Bold"/>
              </a:rPr>
              <a:t>02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814718" y="2667600"/>
            <a:ext cx="1491776" cy="312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8"/>
              </a:lnSpc>
            </a:pPr>
            <a:r>
              <a:rPr lang="en-US" sz="1863" b="1" spc="-18">
                <a:solidFill>
                  <a:srgbClr val="FFFFFF">
                    <a:alpha val="84706"/>
                  </a:srgbClr>
                </a:solidFill>
                <a:latin typeface="Aileron Bold"/>
                <a:ea typeface="Aileron Bold"/>
                <a:cs typeface="Aileron Bold"/>
                <a:sym typeface="Aileron Bold"/>
              </a:rPr>
              <a:t>GRID MODEL</a:t>
            </a:r>
          </a:p>
        </p:txBody>
      </p:sp>
      <p:sp>
        <p:nvSpPr>
          <p:cNvPr id="11" name="Freeform 11"/>
          <p:cNvSpPr/>
          <p:nvPr/>
        </p:nvSpPr>
        <p:spPr>
          <a:xfrm>
            <a:off x="4134488" y="3214004"/>
            <a:ext cx="2832890" cy="2787657"/>
          </a:xfrm>
          <a:custGeom>
            <a:avLst/>
            <a:gdLst/>
            <a:ahLst/>
            <a:cxnLst/>
            <a:rect l="l" t="t" r="r" b="b"/>
            <a:pathLst>
              <a:path w="2832890" h="2787657">
                <a:moveTo>
                  <a:pt x="0" y="0"/>
                </a:moveTo>
                <a:lnTo>
                  <a:pt x="2832890" y="0"/>
                </a:lnTo>
                <a:lnTo>
                  <a:pt x="2832890" y="2787657"/>
                </a:lnTo>
                <a:lnTo>
                  <a:pt x="0" y="278765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4734603" y="6018023"/>
            <a:ext cx="1652005" cy="667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94"/>
              </a:lnSpc>
            </a:pPr>
            <a:r>
              <a:rPr lang="en-US" sz="1924" spc="-18">
                <a:solidFill>
                  <a:srgbClr val="FFFFFF">
                    <a:alpha val="84706"/>
                  </a:srgbClr>
                </a:solidFill>
                <a:latin typeface="Aileron"/>
                <a:ea typeface="Aileron"/>
                <a:cs typeface="Aileron"/>
                <a:sym typeface="Aileron"/>
              </a:rPr>
              <a:t>Converted into</a:t>
            </a:r>
          </a:p>
          <a:p>
            <a:pPr algn="ctr">
              <a:lnSpc>
                <a:spcPts val="2694"/>
              </a:lnSpc>
            </a:pPr>
            <a:r>
              <a:rPr lang="en-US" sz="1924" spc="-18">
                <a:solidFill>
                  <a:srgbClr val="FFFFFF">
                    <a:alpha val="84706"/>
                  </a:srgbClr>
                </a:solidFill>
                <a:latin typeface="Aileron"/>
                <a:ea typeface="Aileron"/>
                <a:cs typeface="Aileron"/>
                <a:sym typeface="Aileron"/>
              </a:rPr>
              <a:t>a 2D grid</a:t>
            </a:r>
          </a:p>
        </p:txBody>
      </p:sp>
      <p:sp>
        <p:nvSpPr>
          <p:cNvPr id="13" name="Freeform 13"/>
          <p:cNvSpPr/>
          <p:nvPr/>
        </p:nvSpPr>
        <p:spPr>
          <a:xfrm>
            <a:off x="6956440" y="4066699"/>
            <a:ext cx="667206" cy="655919"/>
          </a:xfrm>
          <a:custGeom>
            <a:avLst/>
            <a:gdLst/>
            <a:ahLst/>
            <a:cxnLst/>
            <a:rect l="l" t="t" r="r" b="b"/>
            <a:pathLst>
              <a:path w="667206" h="655919">
                <a:moveTo>
                  <a:pt x="0" y="0"/>
                </a:moveTo>
                <a:lnTo>
                  <a:pt x="667206" y="0"/>
                </a:lnTo>
                <a:lnTo>
                  <a:pt x="66720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8779872" y="2159638"/>
            <a:ext cx="410895" cy="437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2"/>
              </a:lnSpc>
            </a:pPr>
            <a:r>
              <a:rPr lang="en-US" sz="2601" b="1" spc="-25">
                <a:solidFill>
                  <a:srgbClr val="723DDC"/>
                </a:solidFill>
                <a:latin typeface="Aileron Bold"/>
                <a:ea typeface="Aileron Bold"/>
                <a:cs typeface="Aileron Bold"/>
                <a:sym typeface="Aileron Bold"/>
              </a:rPr>
              <a:t>03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719470" y="2659456"/>
            <a:ext cx="2531700" cy="328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94"/>
              </a:lnSpc>
            </a:pPr>
            <a:r>
              <a:rPr lang="en-US" sz="1924" b="1" spc="-18">
                <a:solidFill>
                  <a:srgbClr val="FFFFFF">
                    <a:alpha val="84706"/>
                  </a:srgbClr>
                </a:solidFill>
                <a:latin typeface="Aileron Bold"/>
                <a:ea typeface="Aileron Bold"/>
                <a:cs typeface="Aileron Bold"/>
                <a:sym typeface="Aileron Bold"/>
              </a:rPr>
              <a:t>CHOOSE ALGORITHM</a:t>
            </a:r>
          </a:p>
        </p:txBody>
      </p:sp>
      <p:sp>
        <p:nvSpPr>
          <p:cNvPr id="16" name="Freeform 16"/>
          <p:cNvSpPr/>
          <p:nvPr/>
        </p:nvSpPr>
        <p:spPr>
          <a:xfrm>
            <a:off x="7612708" y="3214004"/>
            <a:ext cx="2843828" cy="2787657"/>
          </a:xfrm>
          <a:custGeom>
            <a:avLst/>
            <a:gdLst/>
            <a:ahLst/>
            <a:cxnLst/>
            <a:rect l="l" t="t" r="r" b="b"/>
            <a:pathLst>
              <a:path w="2843828" h="2787657">
                <a:moveTo>
                  <a:pt x="0" y="0"/>
                </a:moveTo>
                <a:lnTo>
                  <a:pt x="2843828" y="0"/>
                </a:lnTo>
                <a:lnTo>
                  <a:pt x="2843828" y="2787657"/>
                </a:lnTo>
                <a:lnTo>
                  <a:pt x="0" y="278765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7831464" y="3421712"/>
            <a:ext cx="2406316" cy="655919"/>
          </a:xfrm>
          <a:custGeom>
            <a:avLst/>
            <a:gdLst/>
            <a:ahLst/>
            <a:cxnLst/>
            <a:rect l="l" t="t" r="r" b="b"/>
            <a:pathLst>
              <a:path w="2406316" h="655919">
                <a:moveTo>
                  <a:pt x="0" y="0"/>
                </a:moveTo>
                <a:lnTo>
                  <a:pt x="2406316" y="0"/>
                </a:lnTo>
                <a:lnTo>
                  <a:pt x="240631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8708653" y="3569009"/>
            <a:ext cx="553334" cy="398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97"/>
              </a:lnSpc>
            </a:pPr>
            <a:r>
              <a:rPr lang="en-US" sz="2355" b="1" spc="-23">
                <a:solidFill>
                  <a:srgbClr val="723DDC"/>
                </a:solidFill>
                <a:latin typeface="Aileron Bold"/>
                <a:ea typeface="Aileron Bold"/>
                <a:cs typeface="Aileron Bold"/>
                <a:sym typeface="Aileron Bold"/>
              </a:rPr>
              <a:t>BFS</a:t>
            </a:r>
          </a:p>
        </p:txBody>
      </p:sp>
      <p:sp>
        <p:nvSpPr>
          <p:cNvPr id="19" name="Freeform 19"/>
          <p:cNvSpPr/>
          <p:nvPr/>
        </p:nvSpPr>
        <p:spPr>
          <a:xfrm>
            <a:off x="7831464" y="4066699"/>
            <a:ext cx="2406316" cy="863627"/>
          </a:xfrm>
          <a:custGeom>
            <a:avLst/>
            <a:gdLst/>
            <a:ahLst/>
            <a:cxnLst/>
            <a:rect l="l" t="t" r="r" b="b"/>
            <a:pathLst>
              <a:path w="2406316" h="863627">
                <a:moveTo>
                  <a:pt x="0" y="0"/>
                </a:moveTo>
                <a:lnTo>
                  <a:pt x="2406316" y="0"/>
                </a:lnTo>
                <a:lnTo>
                  <a:pt x="2406316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8706822" y="4375042"/>
            <a:ext cx="556994" cy="3827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74"/>
              </a:lnSpc>
            </a:pPr>
            <a:r>
              <a:rPr lang="en-US" sz="2267" b="1" spc="-22">
                <a:solidFill>
                  <a:srgbClr val="4361D1"/>
                </a:solidFill>
                <a:latin typeface="Aileron Bold"/>
                <a:ea typeface="Aileron Bold"/>
                <a:cs typeface="Aileron Bold"/>
                <a:sym typeface="Aileron Bold"/>
              </a:rPr>
              <a:t>DFS</a:t>
            </a:r>
          </a:p>
        </p:txBody>
      </p:sp>
      <p:sp>
        <p:nvSpPr>
          <p:cNvPr id="21" name="Freeform 21"/>
          <p:cNvSpPr/>
          <p:nvPr/>
        </p:nvSpPr>
        <p:spPr>
          <a:xfrm>
            <a:off x="7831464" y="4919394"/>
            <a:ext cx="2406316" cy="874559"/>
          </a:xfrm>
          <a:custGeom>
            <a:avLst/>
            <a:gdLst/>
            <a:ahLst/>
            <a:cxnLst/>
            <a:rect l="l" t="t" r="r" b="b"/>
            <a:pathLst>
              <a:path w="2406316" h="874559">
                <a:moveTo>
                  <a:pt x="0" y="0"/>
                </a:moveTo>
                <a:lnTo>
                  <a:pt x="2406316" y="0"/>
                </a:lnTo>
                <a:lnTo>
                  <a:pt x="2406316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8025004" y="5159555"/>
            <a:ext cx="1920630" cy="328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94"/>
              </a:lnSpc>
            </a:pPr>
            <a:r>
              <a:rPr lang="en-US" sz="1924" b="1" spc="-18">
                <a:solidFill>
                  <a:srgbClr val="0F97AD">
                    <a:alpha val="84706"/>
                  </a:srgbClr>
                </a:solidFill>
                <a:latin typeface="Aileron Bold"/>
                <a:ea typeface="Aileron Bold"/>
                <a:cs typeface="Aileron Bold"/>
                <a:sym typeface="Aileron Bold"/>
              </a:rPr>
              <a:t>BACKTRACKING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880807" y="6018804"/>
            <a:ext cx="2051505" cy="665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0"/>
              </a:lnSpc>
            </a:pPr>
            <a:r>
              <a:rPr lang="en-US" sz="1986" spc="-19">
                <a:solidFill>
                  <a:srgbClr val="FFFFFF">
                    <a:alpha val="84706"/>
                  </a:srgbClr>
                </a:solidFill>
                <a:latin typeface="Aileron"/>
                <a:ea typeface="Aileron"/>
                <a:cs typeface="Aileron"/>
                <a:sym typeface="Aileron"/>
              </a:rPr>
              <a:t>Pick the algorithm</a:t>
            </a:r>
          </a:p>
          <a:p>
            <a:pPr algn="ctr">
              <a:lnSpc>
                <a:spcPts val="2780"/>
              </a:lnSpc>
            </a:pPr>
            <a:r>
              <a:rPr lang="en-US" sz="1986" spc="-19">
                <a:solidFill>
                  <a:srgbClr val="FFFFFF">
                    <a:alpha val="84706"/>
                  </a:srgbClr>
                </a:solidFill>
                <a:latin typeface="Aileron"/>
                <a:ea typeface="Aileron"/>
                <a:cs typeface="Aileron"/>
                <a:sym typeface="Aileron"/>
              </a:rPr>
              <a:t>to solve</a:t>
            </a:r>
          </a:p>
        </p:txBody>
      </p:sp>
      <p:sp>
        <p:nvSpPr>
          <p:cNvPr id="24" name="Freeform 24"/>
          <p:cNvSpPr/>
          <p:nvPr/>
        </p:nvSpPr>
        <p:spPr>
          <a:xfrm>
            <a:off x="10445598" y="4066699"/>
            <a:ext cx="667206" cy="655919"/>
          </a:xfrm>
          <a:custGeom>
            <a:avLst/>
            <a:gdLst/>
            <a:ahLst/>
            <a:cxnLst/>
            <a:rect l="l" t="t" r="r" b="b"/>
            <a:pathLst>
              <a:path w="667206" h="655919">
                <a:moveTo>
                  <a:pt x="0" y="0"/>
                </a:moveTo>
                <a:lnTo>
                  <a:pt x="667206" y="0"/>
                </a:lnTo>
                <a:lnTo>
                  <a:pt x="66720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12262450" y="2159638"/>
            <a:ext cx="410895" cy="437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2"/>
              </a:lnSpc>
            </a:pPr>
            <a:r>
              <a:rPr lang="en-US" sz="2601" b="1" spc="-25">
                <a:solidFill>
                  <a:srgbClr val="723DDC"/>
                </a:solidFill>
                <a:latin typeface="Aileron Bold"/>
                <a:ea typeface="Aileron Bold"/>
                <a:cs typeface="Aileron Bold"/>
                <a:sym typeface="Aileron Bold"/>
              </a:rPr>
              <a:t>04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257196" y="2659456"/>
            <a:ext cx="2421404" cy="328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94"/>
              </a:lnSpc>
            </a:pPr>
            <a:r>
              <a:rPr lang="en-US" sz="1924" b="1" spc="-18">
                <a:solidFill>
                  <a:srgbClr val="FFFFFF">
                    <a:alpha val="84706"/>
                  </a:srgbClr>
                </a:solidFill>
                <a:latin typeface="Aileron Bold"/>
                <a:ea typeface="Aileron Bold"/>
                <a:cs typeface="Aileron Bold"/>
                <a:sym typeface="Aileron Bold"/>
              </a:rPr>
              <a:t>ANIMATE SOLUTION</a:t>
            </a:r>
          </a:p>
        </p:txBody>
      </p:sp>
      <p:sp>
        <p:nvSpPr>
          <p:cNvPr id="27" name="Freeform 27"/>
          <p:cNvSpPr/>
          <p:nvPr/>
        </p:nvSpPr>
        <p:spPr>
          <a:xfrm>
            <a:off x="10883110" y="3214004"/>
            <a:ext cx="3051646" cy="2787657"/>
          </a:xfrm>
          <a:custGeom>
            <a:avLst/>
            <a:gdLst/>
            <a:ahLst/>
            <a:cxnLst/>
            <a:rect l="l" t="t" r="r" b="b"/>
            <a:pathLst>
              <a:path w="3051646" h="2787657">
                <a:moveTo>
                  <a:pt x="0" y="0"/>
                </a:moveTo>
                <a:lnTo>
                  <a:pt x="3051646" y="0"/>
                </a:lnTo>
                <a:lnTo>
                  <a:pt x="3051646" y="2787657"/>
                </a:lnTo>
                <a:lnTo>
                  <a:pt x="0" y="278765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8" name="TextBox 28"/>
          <p:cNvSpPr txBox="1"/>
          <p:nvPr/>
        </p:nvSpPr>
        <p:spPr>
          <a:xfrm>
            <a:off x="11215987" y="6018804"/>
            <a:ext cx="2346302" cy="665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0"/>
              </a:lnSpc>
            </a:pPr>
            <a:r>
              <a:rPr lang="en-US" sz="1986" spc="-19">
                <a:solidFill>
                  <a:srgbClr val="FFFFFF">
                    <a:alpha val="84706"/>
                  </a:srgbClr>
                </a:solidFill>
                <a:latin typeface="Aileron"/>
                <a:ea typeface="Aileron"/>
                <a:cs typeface="Aileron"/>
                <a:sym typeface="Aileron"/>
              </a:rPr>
              <a:t>Visualize exploration and path discovery</a:t>
            </a:r>
          </a:p>
        </p:txBody>
      </p:sp>
      <p:sp>
        <p:nvSpPr>
          <p:cNvPr id="29" name="Freeform 29"/>
          <p:cNvSpPr/>
          <p:nvPr/>
        </p:nvSpPr>
        <p:spPr>
          <a:xfrm>
            <a:off x="13923818" y="4066699"/>
            <a:ext cx="667206" cy="655919"/>
          </a:xfrm>
          <a:custGeom>
            <a:avLst/>
            <a:gdLst/>
            <a:ahLst/>
            <a:cxnLst/>
            <a:rect l="l" t="t" r="r" b="b"/>
            <a:pathLst>
              <a:path w="667206" h="655919">
                <a:moveTo>
                  <a:pt x="0" y="0"/>
                </a:moveTo>
                <a:lnTo>
                  <a:pt x="667206" y="0"/>
                </a:lnTo>
                <a:lnTo>
                  <a:pt x="66720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30" name="TextBox 30"/>
          <p:cNvSpPr txBox="1"/>
          <p:nvPr/>
        </p:nvSpPr>
        <p:spPr>
          <a:xfrm>
            <a:off x="15666268" y="2159638"/>
            <a:ext cx="410895" cy="437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2"/>
              </a:lnSpc>
            </a:pPr>
            <a:r>
              <a:rPr lang="en-US" sz="2601" b="1" spc="-25">
                <a:solidFill>
                  <a:srgbClr val="0F97AD"/>
                </a:solidFill>
                <a:latin typeface="Aileron Bold"/>
                <a:ea typeface="Aileron Bold"/>
                <a:cs typeface="Aileron Bold"/>
                <a:sym typeface="Aileron Bold"/>
              </a:rPr>
              <a:t>05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5074111" y="2659456"/>
            <a:ext cx="1595209" cy="328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94"/>
              </a:lnSpc>
            </a:pPr>
            <a:r>
              <a:rPr lang="en-US" sz="1924" b="1" spc="-18">
                <a:solidFill>
                  <a:srgbClr val="FFFFFF">
                    <a:alpha val="84706"/>
                  </a:srgbClr>
                </a:solidFill>
                <a:latin typeface="Aileron Bold"/>
                <a:ea typeface="Aileron Bold"/>
                <a:cs typeface="Aileron Bold"/>
                <a:sym typeface="Aileron Bold"/>
              </a:rPr>
              <a:t>SEE RESULTS</a:t>
            </a:r>
          </a:p>
        </p:txBody>
      </p:sp>
      <p:sp>
        <p:nvSpPr>
          <p:cNvPr id="32" name="Freeform 32"/>
          <p:cNvSpPr/>
          <p:nvPr/>
        </p:nvSpPr>
        <p:spPr>
          <a:xfrm>
            <a:off x="14361330" y="3214004"/>
            <a:ext cx="3062584" cy="2787657"/>
          </a:xfrm>
          <a:custGeom>
            <a:avLst/>
            <a:gdLst/>
            <a:ahLst/>
            <a:cxnLst/>
            <a:rect l="l" t="t" r="r" b="b"/>
            <a:pathLst>
              <a:path w="3062584" h="2787657">
                <a:moveTo>
                  <a:pt x="0" y="0"/>
                </a:moveTo>
                <a:lnTo>
                  <a:pt x="3062584" y="0"/>
                </a:lnTo>
                <a:lnTo>
                  <a:pt x="3062584" y="2787657"/>
                </a:lnTo>
                <a:lnTo>
                  <a:pt x="0" y="278765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33" name="TextBox 33"/>
          <p:cNvSpPr txBox="1"/>
          <p:nvPr/>
        </p:nvSpPr>
        <p:spPr>
          <a:xfrm>
            <a:off x="14684332" y="6018804"/>
            <a:ext cx="2374767" cy="665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0"/>
              </a:lnSpc>
            </a:pPr>
            <a:r>
              <a:rPr lang="en-US" sz="1986" spc="-19">
                <a:solidFill>
                  <a:srgbClr val="FFFFFF">
                    <a:alpha val="84706"/>
                  </a:srgbClr>
                </a:solidFill>
                <a:latin typeface="Aileron"/>
                <a:ea typeface="Aileron"/>
                <a:cs typeface="Aileron"/>
                <a:sym typeface="Aileron"/>
              </a:rPr>
              <a:t>Review path and performance metrics</a:t>
            </a:r>
          </a:p>
        </p:txBody>
      </p:sp>
      <p:sp>
        <p:nvSpPr>
          <p:cNvPr id="34" name="Freeform 34"/>
          <p:cNvSpPr/>
          <p:nvPr/>
        </p:nvSpPr>
        <p:spPr>
          <a:xfrm>
            <a:off x="645330" y="7280704"/>
            <a:ext cx="16997340" cy="2153601"/>
          </a:xfrm>
          <a:custGeom>
            <a:avLst/>
            <a:gdLst/>
            <a:ahLst/>
            <a:cxnLst/>
            <a:rect l="l" t="t" r="r" b="b"/>
            <a:pathLst>
              <a:path w="16997340" h="2153601">
                <a:moveTo>
                  <a:pt x="0" y="0"/>
                </a:moveTo>
                <a:lnTo>
                  <a:pt x="16997340" y="0"/>
                </a:lnTo>
                <a:lnTo>
                  <a:pt x="16997340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35" name="TextBox 35"/>
          <p:cNvSpPr txBox="1"/>
          <p:nvPr/>
        </p:nvSpPr>
        <p:spPr>
          <a:xfrm>
            <a:off x="1505730" y="7881570"/>
            <a:ext cx="2378499" cy="439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37"/>
              </a:lnSpc>
            </a:pPr>
            <a:r>
              <a:rPr lang="en-US" sz="2526" b="1" spc="-24">
                <a:solidFill>
                  <a:srgbClr val="4361D1"/>
                </a:solidFill>
                <a:latin typeface="Aileron Bold"/>
                <a:ea typeface="Aileron Bold"/>
                <a:cs typeface="Aileron Bold"/>
                <a:sym typeface="Aileron Bold"/>
              </a:rPr>
              <a:t>NODES VISITED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469992" y="8443504"/>
            <a:ext cx="2423721" cy="357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1"/>
              </a:lnSpc>
            </a:pPr>
            <a:r>
              <a:rPr lang="en-US" sz="2179" spc="-21">
                <a:solidFill>
                  <a:srgbClr val="FFFFFF">
                    <a:alpha val="84706"/>
                  </a:srgbClr>
                </a:solidFill>
                <a:latin typeface="Aileron"/>
                <a:ea typeface="Aileron"/>
                <a:cs typeface="Aileron"/>
                <a:sym typeface="Aileron"/>
              </a:rPr>
              <a:t>Total cells explored</a:t>
            </a:r>
          </a:p>
        </p:txBody>
      </p:sp>
      <p:sp>
        <p:nvSpPr>
          <p:cNvPr id="37" name="Freeform 37"/>
          <p:cNvSpPr/>
          <p:nvPr/>
        </p:nvSpPr>
        <p:spPr>
          <a:xfrm>
            <a:off x="4779818" y="7707051"/>
            <a:ext cx="229694" cy="1300906"/>
          </a:xfrm>
          <a:custGeom>
            <a:avLst/>
            <a:gdLst/>
            <a:ahLst/>
            <a:cxnLst/>
            <a:rect l="l" t="t" r="r" b="b"/>
            <a:pathLst>
              <a:path w="229694" h="1300906">
                <a:moveTo>
                  <a:pt x="0" y="0"/>
                </a:moveTo>
                <a:lnTo>
                  <a:pt x="229694" y="0"/>
                </a:lnTo>
                <a:lnTo>
                  <a:pt x="229694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38" name="TextBox 38"/>
          <p:cNvSpPr txBox="1"/>
          <p:nvPr/>
        </p:nvSpPr>
        <p:spPr>
          <a:xfrm>
            <a:off x="5706754" y="7881570"/>
            <a:ext cx="2233913" cy="439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37"/>
              </a:lnSpc>
            </a:pPr>
            <a:r>
              <a:rPr lang="en-US" sz="2526" b="1" spc="-24">
                <a:solidFill>
                  <a:srgbClr val="723DDC"/>
                </a:solidFill>
                <a:latin typeface="Aileron Bold"/>
                <a:ea typeface="Aileron Bold"/>
                <a:cs typeface="Aileron Bold"/>
                <a:sym typeface="Aileron Bold"/>
              </a:rPr>
              <a:t>PATH LENGTH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5558728" y="8443504"/>
            <a:ext cx="2529964" cy="357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1"/>
              </a:lnSpc>
            </a:pPr>
            <a:r>
              <a:rPr lang="en-US" sz="2179" spc="-21">
                <a:solidFill>
                  <a:srgbClr val="FFFFFF">
                    <a:alpha val="84706"/>
                  </a:srgbClr>
                </a:solidFill>
                <a:latin typeface="Aileron"/>
                <a:ea typeface="Aileron"/>
                <a:cs typeface="Aileron"/>
                <a:sym typeface="Aileron"/>
              </a:rPr>
              <a:t>Steps in the solution</a:t>
            </a:r>
          </a:p>
        </p:txBody>
      </p:sp>
      <p:sp>
        <p:nvSpPr>
          <p:cNvPr id="40" name="Freeform 40"/>
          <p:cNvSpPr/>
          <p:nvPr/>
        </p:nvSpPr>
        <p:spPr>
          <a:xfrm>
            <a:off x="8925244" y="7707051"/>
            <a:ext cx="218756" cy="1300906"/>
          </a:xfrm>
          <a:custGeom>
            <a:avLst/>
            <a:gdLst/>
            <a:ahLst/>
            <a:cxnLst/>
            <a:rect l="l" t="t" r="r" b="b"/>
            <a:pathLst>
              <a:path w="218756" h="1300906">
                <a:moveTo>
                  <a:pt x="0" y="0"/>
                </a:moveTo>
                <a:lnTo>
                  <a:pt x="218756" y="0"/>
                </a:lnTo>
                <a:lnTo>
                  <a:pt x="218756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41" name="TextBox 41"/>
          <p:cNvSpPr txBox="1"/>
          <p:nvPr/>
        </p:nvSpPr>
        <p:spPr>
          <a:xfrm>
            <a:off x="10022851" y="7872659"/>
            <a:ext cx="1927222" cy="447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5"/>
              </a:lnSpc>
            </a:pPr>
            <a:r>
              <a:rPr lang="en-US" sz="2575" b="1" spc="-25">
                <a:solidFill>
                  <a:srgbClr val="0F97AD"/>
                </a:solidFill>
                <a:latin typeface="Aileron Bold"/>
                <a:ea typeface="Aileron Bold"/>
                <a:cs typeface="Aileron Bold"/>
                <a:sym typeface="Aileron Bold"/>
              </a:rPr>
              <a:t>TIME TAKEN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0063692" y="8443504"/>
            <a:ext cx="1845541" cy="357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1"/>
              </a:lnSpc>
            </a:pPr>
            <a:r>
              <a:rPr lang="en-US" sz="2179" spc="-21">
                <a:solidFill>
                  <a:srgbClr val="FFFFFF">
                    <a:alpha val="84706"/>
                  </a:srgbClr>
                </a:solidFill>
                <a:latin typeface="Aileron"/>
                <a:ea typeface="Aileron"/>
                <a:cs typeface="Aileron"/>
                <a:sym typeface="Aileron"/>
              </a:rPr>
              <a:t>Execution time</a:t>
            </a:r>
          </a:p>
        </p:txBody>
      </p:sp>
      <p:sp>
        <p:nvSpPr>
          <p:cNvPr id="43" name="Freeform 43"/>
          <p:cNvSpPr/>
          <p:nvPr/>
        </p:nvSpPr>
        <p:spPr>
          <a:xfrm>
            <a:off x="12840976" y="7707051"/>
            <a:ext cx="229694" cy="1300906"/>
          </a:xfrm>
          <a:custGeom>
            <a:avLst/>
            <a:gdLst/>
            <a:ahLst/>
            <a:cxnLst/>
            <a:rect l="l" t="t" r="r" b="b"/>
            <a:pathLst>
              <a:path w="229694" h="1300906">
                <a:moveTo>
                  <a:pt x="0" y="0"/>
                </a:moveTo>
                <a:lnTo>
                  <a:pt x="229694" y="0"/>
                </a:lnTo>
                <a:lnTo>
                  <a:pt x="229694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44" name="TextBox 44"/>
          <p:cNvSpPr txBox="1"/>
          <p:nvPr/>
        </p:nvSpPr>
        <p:spPr>
          <a:xfrm>
            <a:off x="13852411" y="7881570"/>
            <a:ext cx="2331075" cy="439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37"/>
              </a:lnSpc>
            </a:pPr>
            <a:r>
              <a:rPr lang="en-US" sz="2526" b="1" spc="-24">
                <a:solidFill>
                  <a:srgbClr val="4361D1"/>
                </a:solidFill>
                <a:latin typeface="Aileron Bold"/>
                <a:ea typeface="Aileron Bold"/>
                <a:cs typeface="Aileron Bold"/>
                <a:sym typeface="Aileron Bold"/>
              </a:rPr>
              <a:t>MEMORY USED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3608368" y="8443504"/>
            <a:ext cx="2882383" cy="357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1"/>
              </a:lnSpc>
            </a:pPr>
            <a:r>
              <a:rPr lang="en-US" sz="2179" spc="-21">
                <a:solidFill>
                  <a:srgbClr val="FFFFFF">
                    <a:alpha val="84706"/>
                  </a:srgbClr>
                </a:solidFill>
                <a:latin typeface="Aileron"/>
                <a:ea typeface="Aileron"/>
                <a:cs typeface="Aileron"/>
                <a:sym typeface="Aileron"/>
              </a:rPr>
              <a:t>Resource consumption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04963" y="710402"/>
            <a:ext cx="8439644" cy="7546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29"/>
              </a:lnSpc>
            </a:pPr>
            <a:r>
              <a:rPr lang="en-US" sz="5729" b="1" spc="-229">
                <a:solidFill>
                  <a:srgbClr val="F6F6F6"/>
                </a:solidFill>
                <a:latin typeface="Aileron Bold"/>
                <a:ea typeface="Aileron Bold"/>
                <a:cs typeface="Aileron Bold"/>
                <a:sym typeface="Aileron Bold"/>
              </a:rPr>
              <a:t>Technology &amp; Algorithms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16075" y="1602294"/>
            <a:ext cx="7328421" cy="361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sz="2759" spc="-110">
                <a:solidFill>
                  <a:srgbClr val="F6F6F6"/>
                </a:solidFill>
                <a:latin typeface="Aileron"/>
                <a:ea typeface="Aileron"/>
                <a:cs typeface="Aileron"/>
                <a:sym typeface="Aileron"/>
              </a:rPr>
              <a:t>Modern stack. Proven algorithms. Clear results.</a:t>
            </a:r>
          </a:p>
        </p:txBody>
      </p:sp>
      <p:sp>
        <p:nvSpPr>
          <p:cNvPr id="5" name="Freeform 5"/>
          <p:cNvSpPr/>
          <p:nvPr/>
        </p:nvSpPr>
        <p:spPr>
          <a:xfrm>
            <a:off x="426574" y="2142670"/>
            <a:ext cx="5020450" cy="7717983"/>
          </a:xfrm>
          <a:custGeom>
            <a:avLst/>
            <a:gdLst/>
            <a:ahLst/>
            <a:cxnLst/>
            <a:rect l="l" t="t" r="r" b="b"/>
            <a:pathLst>
              <a:path w="5020450" h="7717983">
                <a:moveTo>
                  <a:pt x="0" y="0"/>
                </a:moveTo>
                <a:lnTo>
                  <a:pt x="5020450" y="0"/>
                </a:lnTo>
                <a:lnTo>
                  <a:pt x="5020450" y="7717982"/>
                </a:lnTo>
                <a:lnTo>
                  <a:pt x="0" y="77179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870014" y="2495620"/>
            <a:ext cx="1402485" cy="321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740" b="1" spc="-69">
                <a:solidFill>
                  <a:srgbClr val="6478D6"/>
                </a:solidFill>
                <a:latin typeface="Aileron Bold"/>
                <a:ea typeface="Aileron Bold"/>
                <a:cs typeface="Aileron Bold"/>
                <a:sym typeface="Aileron Bold"/>
              </a:rPr>
              <a:t>TECH STACK</a:t>
            </a:r>
          </a:p>
        </p:txBody>
      </p:sp>
      <p:sp>
        <p:nvSpPr>
          <p:cNvPr id="7" name="Freeform 7"/>
          <p:cNvSpPr/>
          <p:nvPr/>
        </p:nvSpPr>
        <p:spPr>
          <a:xfrm>
            <a:off x="1082842" y="2995365"/>
            <a:ext cx="885962" cy="863627"/>
          </a:xfrm>
          <a:custGeom>
            <a:avLst/>
            <a:gdLst/>
            <a:ahLst/>
            <a:cxnLst/>
            <a:rect l="l" t="t" r="r" b="b"/>
            <a:pathLst>
              <a:path w="885962" h="863627">
                <a:moveTo>
                  <a:pt x="0" y="0"/>
                </a:moveTo>
                <a:lnTo>
                  <a:pt x="885962" y="0"/>
                </a:lnTo>
                <a:lnTo>
                  <a:pt x="885962" y="863626"/>
                </a:lnTo>
                <a:lnTo>
                  <a:pt x="0" y="8636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081875" y="3248829"/>
            <a:ext cx="767153" cy="407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7"/>
              </a:lnSpc>
            </a:pPr>
            <a:r>
              <a:rPr lang="en-US" sz="2311" b="1" spc="-92">
                <a:solidFill>
                  <a:srgbClr val="F6F6F6"/>
                </a:solidFill>
                <a:latin typeface="Aileron Bold"/>
                <a:ea typeface="Aileron Bold"/>
                <a:cs typeface="Aileron Bold"/>
                <a:sym typeface="Aileron Bold"/>
              </a:rPr>
              <a:t>React</a:t>
            </a:r>
          </a:p>
        </p:txBody>
      </p:sp>
      <p:sp>
        <p:nvSpPr>
          <p:cNvPr id="9" name="Freeform 9"/>
          <p:cNvSpPr/>
          <p:nvPr/>
        </p:nvSpPr>
        <p:spPr>
          <a:xfrm>
            <a:off x="1082842" y="4066699"/>
            <a:ext cx="885962" cy="863627"/>
          </a:xfrm>
          <a:custGeom>
            <a:avLst/>
            <a:gdLst/>
            <a:ahLst/>
            <a:cxnLst/>
            <a:rect l="l" t="t" r="r" b="b"/>
            <a:pathLst>
              <a:path w="885962" h="863627">
                <a:moveTo>
                  <a:pt x="0" y="0"/>
                </a:moveTo>
                <a:lnTo>
                  <a:pt x="885962" y="0"/>
                </a:lnTo>
                <a:lnTo>
                  <a:pt x="885962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2075227" y="4318149"/>
            <a:ext cx="1432015" cy="407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7"/>
              </a:lnSpc>
            </a:pPr>
            <a:r>
              <a:rPr lang="en-US" sz="2311" b="1" spc="-92">
                <a:solidFill>
                  <a:srgbClr val="F6F6F6"/>
                </a:solidFill>
                <a:latin typeface="Aileron Bold"/>
                <a:ea typeface="Aileron Bold"/>
                <a:cs typeface="Aileron Bold"/>
                <a:sym typeface="Aileron Bold"/>
              </a:rPr>
              <a:t>JavaScript</a:t>
            </a:r>
          </a:p>
        </p:txBody>
      </p:sp>
      <p:sp>
        <p:nvSpPr>
          <p:cNvPr id="11" name="Freeform 11"/>
          <p:cNvSpPr/>
          <p:nvPr/>
        </p:nvSpPr>
        <p:spPr>
          <a:xfrm>
            <a:off x="1082842" y="5138034"/>
            <a:ext cx="885962" cy="863627"/>
          </a:xfrm>
          <a:custGeom>
            <a:avLst/>
            <a:gdLst/>
            <a:ahLst/>
            <a:cxnLst/>
            <a:rect l="l" t="t" r="r" b="b"/>
            <a:pathLst>
              <a:path w="885962" h="863627">
                <a:moveTo>
                  <a:pt x="0" y="0"/>
                </a:moveTo>
                <a:lnTo>
                  <a:pt x="885962" y="0"/>
                </a:lnTo>
                <a:lnTo>
                  <a:pt x="885962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082842" y="6209369"/>
            <a:ext cx="885962" cy="863627"/>
          </a:xfrm>
          <a:custGeom>
            <a:avLst/>
            <a:gdLst/>
            <a:ahLst/>
            <a:cxnLst/>
            <a:rect l="l" t="t" r="r" b="b"/>
            <a:pathLst>
              <a:path w="885962" h="863627">
                <a:moveTo>
                  <a:pt x="0" y="0"/>
                </a:moveTo>
                <a:lnTo>
                  <a:pt x="885962" y="0"/>
                </a:lnTo>
                <a:lnTo>
                  <a:pt x="885962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2083749" y="6396545"/>
            <a:ext cx="579779" cy="407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7"/>
              </a:lnSpc>
            </a:pPr>
            <a:r>
              <a:rPr lang="en-US" sz="2311" b="1" spc="-92">
                <a:solidFill>
                  <a:srgbClr val="F6F6F6"/>
                </a:solidFill>
                <a:latin typeface="Aileron Bold"/>
                <a:ea typeface="Aileron Bold"/>
                <a:cs typeface="Aileron Bold"/>
                <a:sym typeface="Aileron Bold"/>
              </a:rPr>
              <a:t>CSS</a:t>
            </a:r>
          </a:p>
        </p:txBody>
      </p:sp>
      <p:sp>
        <p:nvSpPr>
          <p:cNvPr id="14" name="Freeform 14"/>
          <p:cNvSpPr/>
          <p:nvPr/>
        </p:nvSpPr>
        <p:spPr>
          <a:xfrm>
            <a:off x="1082842" y="7280704"/>
            <a:ext cx="885962" cy="863627"/>
          </a:xfrm>
          <a:custGeom>
            <a:avLst/>
            <a:gdLst/>
            <a:ahLst/>
            <a:cxnLst/>
            <a:rect l="l" t="t" r="r" b="b"/>
            <a:pathLst>
              <a:path w="885962" h="863627">
                <a:moveTo>
                  <a:pt x="0" y="0"/>
                </a:moveTo>
                <a:lnTo>
                  <a:pt x="885962" y="0"/>
                </a:lnTo>
                <a:lnTo>
                  <a:pt x="885962" y="863626"/>
                </a:lnTo>
                <a:lnTo>
                  <a:pt x="0" y="86362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2080224" y="7450804"/>
            <a:ext cx="932295" cy="407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7"/>
              </a:lnSpc>
            </a:pPr>
            <a:r>
              <a:rPr lang="en-US" sz="2311" b="1" spc="-92">
                <a:solidFill>
                  <a:srgbClr val="F6F6F6"/>
                </a:solidFill>
                <a:latin typeface="Aileron Bold"/>
                <a:ea typeface="Aileron Bold"/>
                <a:cs typeface="Aileron Bold"/>
                <a:sym typeface="Aileron Bold"/>
              </a:rPr>
              <a:t>GitHub</a:t>
            </a:r>
          </a:p>
        </p:txBody>
      </p:sp>
      <p:sp>
        <p:nvSpPr>
          <p:cNvPr id="16" name="Freeform 16"/>
          <p:cNvSpPr/>
          <p:nvPr/>
        </p:nvSpPr>
        <p:spPr>
          <a:xfrm>
            <a:off x="1082842" y="8352038"/>
            <a:ext cx="885962" cy="863627"/>
          </a:xfrm>
          <a:custGeom>
            <a:avLst/>
            <a:gdLst/>
            <a:ahLst/>
            <a:cxnLst/>
            <a:rect l="l" t="t" r="r" b="b"/>
            <a:pathLst>
              <a:path w="885962" h="863627">
                <a:moveTo>
                  <a:pt x="0" y="0"/>
                </a:moveTo>
                <a:lnTo>
                  <a:pt x="885962" y="0"/>
                </a:lnTo>
                <a:lnTo>
                  <a:pt x="885962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2081477" y="8474941"/>
            <a:ext cx="807026" cy="407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7"/>
              </a:lnSpc>
            </a:pPr>
            <a:r>
              <a:rPr lang="en-US" sz="2311" b="1" spc="-92">
                <a:solidFill>
                  <a:srgbClr val="F6F6F6"/>
                </a:solidFill>
                <a:latin typeface="Aileron Bold"/>
                <a:ea typeface="Aileron Bold"/>
                <a:cs typeface="Aileron Bold"/>
                <a:sym typeface="Aileron Bold"/>
              </a:rPr>
              <a:t>Netify</a:t>
            </a:r>
          </a:p>
        </p:txBody>
      </p:sp>
      <p:sp>
        <p:nvSpPr>
          <p:cNvPr id="18" name="Freeform 18"/>
          <p:cNvSpPr/>
          <p:nvPr/>
        </p:nvSpPr>
        <p:spPr>
          <a:xfrm>
            <a:off x="5654842" y="2142670"/>
            <a:ext cx="11987828" cy="5793953"/>
          </a:xfrm>
          <a:custGeom>
            <a:avLst/>
            <a:gdLst/>
            <a:ahLst/>
            <a:cxnLst/>
            <a:rect l="l" t="t" r="r" b="b"/>
            <a:pathLst>
              <a:path w="11987828" h="5793953">
                <a:moveTo>
                  <a:pt x="0" y="0"/>
                </a:moveTo>
                <a:lnTo>
                  <a:pt x="11987828" y="0"/>
                </a:lnTo>
                <a:lnTo>
                  <a:pt x="11987828" y="5793953"/>
                </a:lnTo>
                <a:lnTo>
                  <a:pt x="0" y="579395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6100179" y="2782765"/>
            <a:ext cx="772746" cy="594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57"/>
              </a:lnSpc>
            </a:pPr>
            <a:r>
              <a:rPr lang="en-US" sz="3304" b="1" spc="-132">
                <a:solidFill>
                  <a:srgbClr val="13C8E9"/>
                </a:solidFill>
                <a:latin typeface="Aileron Bold"/>
                <a:ea typeface="Aileron Bold"/>
                <a:cs typeface="Aileron Bold"/>
                <a:sym typeface="Aileron Bold"/>
              </a:rPr>
              <a:t>BFS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092758" y="3378116"/>
            <a:ext cx="1514802" cy="9059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25"/>
              </a:lnSpc>
            </a:pPr>
            <a:r>
              <a:rPr lang="en-US" sz="1617" spc="-64">
                <a:solidFill>
                  <a:srgbClr val="F6F6F6"/>
                </a:solidFill>
                <a:latin typeface="Aileron"/>
                <a:ea typeface="Aileron"/>
                <a:cs typeface="Aileron"/>
                <a:sym typeface="Aileron"/>
              </a:rPr>
              <a:t>Queue</a:t>
            </a:r>
          </a:p>
          <a:p>
            <a:pPr algn="l">
              <a:lnSpc>
                <a:spcPts val="2425"/>
              </a:lnSpc>
            </a:pPr>
            <a:r>
              <a:rPr lang="en-US" sz="1617" spc="-64">
                <a:solidFill>
                  <a:srgbClr val="F6F6F6"/>
                </a:solidFill>
                <a:latin typeface="Aileron"/>
                <a:ea typeface="Aileron"/>
                <a:cs typeface="Aileron"/>
                <a:sym typeface="Aileron"/>
              </a:rPr>
              <a:t>Shortest path in unweighted grid</a:t>
            </a:r>
          </a:p>
        </p:txBody>
      </p:sp>
      <p:sp>
        <p:nvSpPr>
          <p:cNvPr id="21" name="Freeform 21"/>
          <p:cNvSpPr/>
          <p:nvPr/>
        </p:nvSpPr>
        <p:spPr>
          <a:xfrm>
            <a:off x="8706488" y="2776725"/>
            <a:ext cx="8061158" cy="1300906"/>
          </a:xfrm>
          <a:custGeom>
            <a:avLst/>
            <a:gdLst/>
            <a:ahLst/>
            <a:cxnLst/>
            <a:rect l="l" t="t" r="r" b="b"/>
            <a:pathLst>
              <a:path w="8061158" h="1300906">
                <a:moveTo>
                  <a:pt x="0" y="0"/>
                </a:moveTo>
                <a:lnTo>
                  <a:pt x="8061158" y="0"/>
                </a:lnTo>
                <a:lnTo>
                  <a:pt x="8061158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6099912" y="4605127"/>
            <a:ext cx="799430" cy="594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57"/>
              </a:lnSpc>
            </a:pPr>
            <a:r>
              <a:rPr lang="en-US" sz="3304" b="1" spc="-132">
                <a:solidFill>
                  <a:srgbClr val="D161F1"/>
                </a:solidFill>
                <a:latin typeface="Aileron Bold"/>
                <a:ea typeface="Aileron Bold"/>
                <a:cs typeface="Aileron Bold"/>
                <a:sym typeface="Aileron Bold"/>
              </a:rPr>
              <a:t>DFS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090668" y="5236693"/>
            <a:ext cx="1723851" cy="6430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740" spc="-69">
                <a:solidFill>
                  <a:srgbClr val="F6F6F6"/>
                </a:solidFill>
                <a:latin typeface="Aileron"/>
                <a:ea typeface="Aileron"/>
                <a:cs typeface="Aileron"/>
                <a:sym typeface="Aileron"/>
              </a:rPr>
              <a:t>Stack / Recursion</a:t>
            </a:r>
          </a:p>
          <a:p>
            <a:pPr algn="l">
              <a:lnSpc>
                <a:spcPts val="2610"/>
              </a:lnSpc>
            </a:pPr>
            <a:r>
              <a:rPr lang="en-US" sz="1740" spc="-69">
                <a:solidFill>
                  <a:srgbClr val="F6F6F6"/>
                </a:solidFill>
                <a:latin typeface="Aileron"/>
                <a:ea typeface="Aileron"/>
                <a:cs typeface="Aileron"/>
                <a:sym typeface="Aileron"/>
              </a:rPr>
              <a:t>Deep exploration</a:t>
            </a:r>
          </a:p>
        </p:txBody>
      </p:sp>
      <p:sp>
        <p:nvSpPr>
          <p:cNvPr id="24" name="Freeform 24"/>
          <p:cNvSpPr/>
          <p:nvPr/>
        </p:nvSpPr>
        <p:spPr>
          <a:xfrm>
            <a:off x="8706488" y="4711687"/>
            <a:ext cx="8061158" cy="1082267"/>
          </a:xfrm>
          <a:custGeom>
            <a:avLst/>
            <a:gdLst/>
            <a:ahLst/>
            <a:cxnLst/>
            <a:rect l="l" t="t" r="r" b="b"/>
            <a:pathLst>
              <a:path w="8061158" h="1082267">
                <a:moveTo>
                  <a:pt x="0" y="0"/>
                </a:moveTo>
                <a:lnTo>
                  <a:pt x="8061158" y="0"/>
                </a:lnTo>
                <a:lnTo>
                  <a:pt x="8061158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6085375" y="6262600"/>
            <a:ext cx="2253112" cy="5354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56"/>
              </a:lnSpc>
            </a:pPr>
            <a:r>
              <a:rPr lang="en-US" sz="2970" b="1" spc="-118">
                <a:solidFill>
                  <a:srgbClr val="29C0D4"/>
                </a:solidFill>
                <a:latin typeface="Aileron Bold"/>
                <a:ea typeface="Aileron Bold"/>
                <a:cs typeface="Aileron Bold"/>
                <a:sym typeface="Aileron Bold"/>
              </a:rPr>
              <a:t>Backtracking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091721" y="6827049"/>
            <a:ext cx="1618491" cy="9059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25"/>
              </a:lnSpc>
            </a:pPr>
            <a:r>
              <a:rPr lang="en-US" sz="1617" spc="-64">
                <a:solidFill>
                  <a:srgbClr val="F6F6F6"/>
                </a:solidFill>
                <a:latin typeface="Aileron"/>
                <a:ea typeface="Aileron"/>
                <a:cs typeface="Aileron"/>
                <a:sym typeface="Aileron"/>
              </a:rPr>
              <a:t>Recursion</a:t>
            </a:r>
          </a:p>
          <a:p>
            <a:pPr algn="l">
              <a:lnSpc>
                <a:spcPts val="2425"/>
              </a:lnSpc>
            </a:pPr>
            <a:r>
              <a:rPr lang="en-US" sz="1617" spc="-64">
                <a:solidFill>
                  <a:srgbClr val="F6F6F6"/>
                </a:solidFill>
                <a:latin typeface="Aileron"/>
                <a:ea typeface="Aileron"/>
                <a:cs typeface="Aileron"/>
                <a:sym typeface="Aileron"/>
              </a:rPr>
              <a:t>Try, check, undo, retry</a:t>
            </a:r>
          </a:p>
        </p:txBody>
      </p:sp>
      <p:sp>
        <p:nvSpPr>
          <p:cNvPr id="27" name="Freeform 27"/>
          <p:cNvSpPr/>
          <p:nvPr/>
        </p:nvSpPr>
        <p:spPr>
          <a:xfrm>
            <a:off x="8706488" y="6209369"/>
            <a:ext cx="8061158" cy="1508614"/>
          </a:xfrm>
          <a:custGeom>
            <a:avLst/>
            <a:gdLst/>
            <a:ahLst/>
            <a:cxnLst/>
            <a:rect l="l" t="t" r="r" b="b"/>
            <a:pathLst>
              <a:path w="8061158" h="1508614">
                <a:moveTo>
                  <a:pt x="0" y="0"/>
                </a:moveTo>
                <a:lnTo>
                  <a:pt x="8061158" y="0"/>
                </a:lnTo>
                <a:lnTo>
                  <a:pt x="8061158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5654842" y="7925691"/>
            <a:ext cx="5884536" cy="1934962"/>
          </a:xfrm>
          <a:custGeom>
            <a:avLst/>
            <a:gdLst/>
            <a:ahLst/>
            <a:cxnLst/>
            <a:rect l="l" t="t" r="r" b="b"/>
            <a:pathLst>
              <a:path w="5884536" h="1934962">
                <a:moveTo>
                  <a:pt x="0" y="0"/>
                </a:moveTo>
                <a:lnTo>
                  <a:pt x="5884536" y="0"/>
                </a:lnTo>
                <a:lnTo>
                  <a:pt x="5884536" y="1934961"/>
                </a:lnTo>
                <a:lnTo>
                  <a:pt x="0" y="1934961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9" name="TextBox 29"/>
          <p:cNvSpPr txBox="1"/>
          <p:nvPr/>
        </p:nvSpPr>
        <p:spPr>
          <a:xfrm>
            <a:off x="6094667" y="8498918"/>
            <a:ext cx="1323947" cy="836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27"/>
              </a:lnSpc>
            </a:pPr>
            <a:r>
              <a:rPr lang="en-US" sz="2285" b="1" spc="-91">
                <a:solidFill>
                  <a:srgbClr val="F6F6F6"/>
                </a:solidFill>
                <a:latin typeface="Aileron Bold"/>
                <a:ea typeface="Aileron Bold"/>
                <a:cs typeface="Aileron Bold"/>
                <a:sym typeface="Aileron Bold"/>
              </a:rPr>
              <a:t>BFS &amp; DFS</a:t>
            </a:r>
          </a:p>
          <a:p>
            <a:pPr algn="l">
              <a:lnSpc>
                <a:spcPts val="3427"/>
              </a:lnSpc>
            </a:pPr>
            <a:r>
              <a:rPr lang="en-US" sz="2285" b="1" spc="-91">
                <a:solidFill>
                  <a:srgbClr val="29C0D4"/>
                </a:solidFill>
                <a:latin typeface="Aileron Bold"/>
                <a:ea typeface="Aileron Bold"/>
                <a:cs typeface="Aileron Bold"/>
                <a:sym typeface="Aileron Bold"/>
              </a:rPr>
              <a:t>O(V + E)</a:t>
            </a:r>
          </a:p>
        </p:txBody>
      </p:sp>
      <p:sp>
        <p:nvSpPr>
          <p:cNvPr id="30" name="Freeform 30"/>
          <p:cNvSpPr/>
          <p:nvPr/>
        </p:nvSpPr>
        <p:spPr>
          <a:xfrm>
            <a:off x="8268976" y="8570678"/>
            <a:ext cx="229694" cy="863627"/>
          </a:xfrm>
          <a:custGeom>
            <a:avLst/>
            <a:gdLst/>
            <a:ahLst/>
            <a:cxnLst/>
            <a:rect l="l" t="t" r="r" b="b"/>
            <a:pathLst>
              <a:path w="229694" h="863627">
                <a:moveTo>
                  <a:pt x="0" y="0"/>
                </a:moveTo>
                <a:lnTo>
                  <a:pt x="229694" y="0"/>
                </a:lnTo>
                <a:lnTo>
                  <a:pt x="229694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8957742" y="8524284"/>
            <a:ext cx="1659439" cy="795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9"/>
              </a:lnSpc>
            </a:pPr>
            <a:r>
              <a:rPr lang="en-US" sz="2179" b="1" spc="-87">
                <a:solidFill>
                  <a:srgbClr val="F6F6F6"/>
                </a:solidFill>
                <a:latin typeface="Aileron Bold"/>
                <a:ea typeface="Aileron Bold"/>
                <a:cs typeface="Aileron Bold"/>
                <a:sym typeface="Aileron Bold"/>
              </a:rPr>
              <a:t>Backtracking</a:t>
            </a:r>
          </a:p>
          <a:p>
            <a:pPr algn="l">
              <a:lnSpc>
                <a:spcPts val="3269"/>
              </a:lnSpc>
            </a:pPr>
            <a:r>
              <a:rPr lang="en-US" sz="2179" b="1" spc="-87">
                <a:solidFill>
                  <a:srgbClr val="29C0D4"/>
                </a:solidFill>
                <a:latin typeface="Aileron Bold"/>
                <a:ea typeface="Aileron Bold"/>
                <a:cs typeface="Aileron Bold"/>
                <a:sym typeface="Aileron Bold"/>
              </a:rPr>
              <a:t>O(4^V)</a:t>
            </a:r>
          </a:p>
        </p:txBody>
      </p:sp>
      <p:sp>
        <p:nvSpPr>
          <p:cNvPr id="32" name="Freeform 32"/>
          <p:cNvSpPr/>
          <p:nvPr/>
        </p:nvSpPr>
        <p:spPr>
          <a:xfrm>
            <a:off x="11528440" y="7925691"/>
            <a:ext cx="6114230" cy="1934962"/>
          </a:xfrm>
          <a:custGeom>
            <a:avLst/>
            <a:gdLst/>
            <a:ahLst/>
            <a:cxnLst/>
            <a:rect l="l" t="t" r="r" b="b"/>
            <a:pathLst>
              <a:path w="6114230" h="1934962">
                <a:moveTo>
                  <a:pt x="0" y="0"/>
                </a:moveTo>
                <a:lnTo>
                  <a:pt x="6114230" y="0"/>
                </a:lnTo>
                <a:lnTo>
                  <a:pt x="6114230" y="1934961"/>
                </a:lnTo>
                <a:lnTo>
                  <a:pt x="0" y="1934961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33" name="TextBox 33"/>
          <p:cNvSpPr txBox="1"/>
          <p:nvPr/>
        </p:nvSpPr>
        <p:spPr>
          <a:xfrm>
            <a:off x="11921133" y="8660417"/>
            <a:ext cx="4152305" cy="714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0"/>
              </a:lnSpc>
            </a:pPr>
            <a:r>
              <a:rPr lang="en-US" sz="2254" spc="-90">
                <a:solidFill>
                  <a:srgbClr val="F6F6F6"/>
                </a:solidFill>
                <a:latin typeface="Aileron"/>
                <a:ea typeface="Aileron"/>
                <a:cs typeface="Aileron"/>
                <a:sym typeface="Aileron"/>
              </a:rPr>
              <a:t>Showcasing diverse search strategies on the same maze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896044" y="8083192"/>
            <a:ext cx="2508927" cy="321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740" b="1" spc="-69">
                <a:solidFill>
                  <a:srgbClr val="6478D6"/>
                </a:solidFill>
                <a:latin typeface="Aileron Bold"/>
                <a:ea typeface="Aileron Bold"/>
                <a:cs typeface="Aileron Bold"/>
                <a:sym typeface="Aileron Bold"/>
              </a:rPr>
              <a:t>WHY WE CHOSE THESE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879003" y="2345012"/>
            <a:ext cx="1459037" cy="321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740" b="1" spc="-69">
                <a:solidFill>
                  <a:srgbClr val="6478D6"/>
                </a:solidFill>
                <a:latin typeface="Aileron Bold"/>
                <a:ea typeface="Aileron Bold"/>
                <a:cs typeface="Aileron Bold"/>
                <a:sym typeface="Aileron Bold"/>
              </a:rPr>
              <a:t>ALGORITHMS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093539" y="8083192"/>
            <a:ext cx="1436732" cy="321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740" b="1" spc="-69">
                <a:solidFill>
                  <a:srgbClr val="6478D6"/>
                </a:solidFill>
                <a:latin typeface="Aileron Bold"/>
                <a:ea typeface="Aileron Bold"/>
                <a:cs typeface="Aileron Bold"/>
                <a:sym typeface="Aileron Bold"/>
              </a:rPr>
              <a:t>COMPLEXITY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2084237" y="5342286"/>
            <a:ext cx="531000" cy="407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7"/>
              </a:lnSpc>
            </a:pPr>
            <a:r>
              <a:rPr lang="en-US" sz="2311" b="1" spc="-92">
                <a:solidFill>
                  <a:srgbClr val="F6F6F6"/>
                </a:solidFill>
                <a:latin typeface="Aileron Bold"/>
                <a:ea typeface="Aileron Bold"/>
                <a:cs typeface="Aileron Bold"/>
                <a:sym typeface="Aileron Bold"/>
              </a:rPr>
              <a:t>Vite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55468" y="1649314"/>
            <a:ext cx="3389129" cy="1831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58"/>
              </a:lnSpc>
            </a:pPr>
            <a:r>
              <a:rPr lang="en-US" sz="6309" b="1" spc="-126">
                <a:solidFill>
                  <a:srgbClr val="F4F4F4"/>
                </a:solidFill>
                <a:latin typeface="Aileron Bold"/>
                <a:ea typeface="Aileron Bold"/>
                <a:cs typeface="Aileron Bold"/>
                <a:sym typeface="Aileron Bold"/>
              </a:rPr>
              <a:t>MazeLab</a:t>
            </a:r>
          </a:p>
          <a:p>
            <a:pPr algn="l">
              <a:lnSpc>
                <a:spcPts val="7258"/>
              </a:lnSpc>
            </a:pPr>
            <a:r>
              <a:rPr lang="en-US" sz="6309" b="1" spc="-126">
                <a:solidFill>
                  <a:srgbClr val="6D7EF4"/>
                </a:solidFill>
                <a:latin typeface="Aileron Bold"/>
                <a:ea typeface="Aileron Bold"/>
                <a:cs typeface="Aileron Bold"/>
                <a:sym typeface="Aileron Bold"/>
              </a:rPr>
              <a:t>in Action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16148" y="3795670"/>
            <a:ext cx="3723680" cy="1263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82"/>
              </a:lnSpc>
            </a:pPr>
            <a:r>
              <a:rPr lang="en-US" sz="2321" spc="-46">
                <a:solidFill>
                  <a:srgbClr val="F4F4F4">
                    <a:alpha val="84706"/>
                  </a:srgbClr>
                </a:solidFill>
                <a:latin typeface="Aileron"/>
                <a:ea typeface="Aileron"/>
                <a:cs typeface="Aileron"/>
                <a:sym typeface="Aileron"/>
              </a:rPr>
              <a:t>See algorithms solve mazes step by step with real-time visual feedback.</a:t>
            </a:r>
          </a:p>
        </p:txBody>
      </p:sp>
      <p:sp>
        <p:nvSpPr>
          <p:cNvPr id="5" name="Freeform 5"/>
          <p:cNvSpPr/>
          <p:nvPr/>
        </p:nvSpPr>
        <p:spPr>
          <a:xfrm>
            <a:off x="4572000" y="634055"/>
            <a:ext cx="2395378" cy="4733550"/>
          </a:xfrm>
          <a:custGeom>
            <a:avLst/>
            <a:gdLst/>
            <a:ahLst/>
            <a:cxnLst/>
            <a:rect l="l" t="t" r="r" b="b"/>
            <a:pathLst>
              <a:path w="2395378" h="4733550">
                <a:moveTo>
                  <a:pt x="0" y="0"/>
                </a:moveTo>
                <a:lnTo>
                  <a:pt x="2395378" y="0"/>
                </a:lnTo>
                <a:lnTo>
                  <a:pt x="2395378" y="4733551"/>
                </a:lnTo>
                <a:lnTo>
                  <a:pt x="0" y="47335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4779818" y="1497682"/>
            <a:ext cx="2187560" cy="3651284"/>
          </a:xfrm>
          <a:custGeom>
            <a:avLst/>
            <a:gdLst/>
            <a:ahLst/>
            <a:cxnLst/>
            <a:rect l="l" t="t" r="r" b="b"/>
            <a:pathLst>
              <a:path w="2187560" h="3651284">
                <a:moveTo>
                  <a:pt x="0" y="0"/>
                </a:moveTo>
                <a:lnTo>
                  <a:pt x="2187560" y="0"/>
                </a:lnTo>
                <a:lnTo>
                  <a:pt x="2187560" y="3651284"/>
                </a:lnTo>
                <a:lnTo>
                  <a:pt x="0" y="36512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6748622" y="2776725"/>
            <a:ext cx="656268" cy="655919"/>
          </a:xfrm>
          <a:custGeom>
            <a:avLst/>
            <a:gdLst/>
            <a:ahLst/>
            <a:cxnLst/>
            <a:rect l="l" t="t" r="r" b="b"/>
            <a:pathLst>
              <a:path w="656268" h="655919">
                <a:moveTo>
                  <a:pt x="0" y="0"/>
                </a:moveTo>
                <a:lnTo>
                  <a:pt x="656268" y="0"/>
                </a:lnTo>
                <a:lnTo>
                  <a:pt x="656268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7175196" y="634055"/>
            <a:ext cx="2625072" cy="4733550"/>
          </a:xfrm>
          <a:custGeom>
            <a:avLst/>
            <a:gdLst/>
            <a:ahLst/>
            <a:cxnLst/>
            <a:rect l="l" t="t" r="r" b="b"/>
            <a:pathLst>
              <a:path w="2625072" h="4733550">
                <a:moveTo>
                  <a:pt x="0" y="0"/>
                </a:moveTo>
                <a:lnTo>
                  <a:pt x="2625072" y="0"/>
                </a:lnTo>
                <a:lnTo>
                  <a:pt x="2625072" y="4733551"/>
                </a:lnTo>
                <a:lnTo>
                  <a:pt x="0" y="473355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7393952" y="1497682"/>
            <a:ext cx="2187560" cy="3651284"/>
          </a:xfrm>
          <a:custGeom>
            <a:avLst/>
            <a:gdLst/>
            <a:ahLst/>
            <a:cxnLst/>
            <a:rect l="l" t="t" r="r" b="b"/>
            <a:pathLst>
              <a:path w="2187560" h="3651284">
                <a:moveTo>
                  <a:pt x="0" y="0"/>
                </a:moveTo>
                <a:lnTo>
                  <a:pt x="2187560" y="0"/>
                </a:lnTo>
                <a:lnTo>
                  <a:pt x="2187560" y="3651284"/>
                </a:lnTo>
                <a:lnTo>
                  <a:pt x="0" y="365128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9570574" y="2776725"/>
            <a:ext cx="448450" cy="655919"/>
          </a:xfrm>
          <a:custGeom>
            <a:avLst/>
            <a:gdLst/>
            <a:ahLst/>
            <a:cxnLst/>
            <a:rect l="l" t="t" r="r" b="b"/>
            <a:pathLst>
              <a:path w="448450" h="655919">
                <a:moveTo>
                  <a:pt x="0" y="0"/>
                </a:moveTo>
                <a:lnTo>
                  <a:pt x="448450" y="0"/>
                </a:lnTo>
                <a:lnTo>
                  <a:pt x="44845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0008086" y="634055"/>
            <a:ext cx="2406316" cy="4733550"/>
          </a:xfrm>
          <a:custGeom>
            <a:avLst/>
            <a:gdLst/>
            <a:ahLst/>
            <a:cxnLst/>
            <a:rect l="l" t="t" r="r" b="b"/>
            <a:pathLst>
              <a:path w="2406316" h="4733550">
                <a:moveTo>
                  <a:pt x="0" y="0"/>
                </a:moveTo>
                <a:lnTo>
                  <a:pt x="2406316" y="0"/>
                </a:lnTo>
                <a:lnTo>
                  <a:pt x="2406316" y="4733551"/>
                </a:lnTo>
                <a:lnTo>
                  <a:pt x="0" y="473355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0008086" y="1497682"/>
            <a:ext cx="2187560" cy="3651284"/>
          </a:xfrm>
          <a:custGeom>
            <a:avLst/>
            <a:gdLst/>
            <a:ahLst/>
            <a:cxnLst/>
            <a:rect l="l" t="t" r="r" b="b"/>
            <a:pathLst>
              <a:path w="2187560" h="3651284">
                <a:moveTo>
                  <a:pt x="0" y="0"/>
                </a:moveTo>
                <a:lnTo>
                  <a:pt x="2187560" y="0"/>
                </a:lnTo>
                <a:lnTo>
                  <a:pt x="2187560" y="3651284"/>
                </a:lnTo>
                <a:lnTo>
                  <a:pt x="0" y="365128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2184708" y="2776725"/>
            <a:ext cx="667206" cy="655919"/>
          </a:xfrm>
          <a:custGeom>
            <a:avLst/>
            <a:gdLst/>
            <a:ahLst/>
            <a:cxnLst/>
            <a:rect l="l" t="t" r="r" b="b"/>
            <a:pathLst>
              <a:path w="667206" h="655919">
                <a:moveTo>
                  <a:pt x="0" y="0"/>
                </a:moveTo>
                <a:lnTo>
                  <a:pt x="667206" y="0"/>
                </a:lnTo>
                <a:lnTo>
                  <a:pt x="66720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2622220" y="634055"/>
            <a:ext cx="2625072" cy="4733550"/>
          </a:xfrm>
          <a:custGeom>
            <a:avLst/>
            <a:gdLst/>
            <a:ahLst/>
            <a:cxnLst/>
            <a:rect l="l" t="t" r="r" b="b"/>
            <a:pathLst>
              <a:path w="2625072" h="4733550">
                <a:moveTo>
                  <a:pt x="0" y="0"/>
                </a:moveTo>
                <a:lnTo>
                  <a:pt x="2625072" y="0"/>
                </a:lnTo>
                <a:lnTo>
                  <a:pt x="2625072" y="4733551"/>
                </a:lnTo>
                <a:lnTo>
                  <a:pt x="0" y="473355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2840976" y="1497682"/>
            <a:ext cx="2187560" cy="3651284"/>
          </a:xfrm>
          <a:custGeom>
            <a:avLst/>
            <a:gdLst/>
            <a:ahLst/>
            <a:cxnLst/>
            <a:rect l="l" t="t" r="r" b="b"/>
            <a:pathLst>
              <a:path w="2187560" h="3651284">
                <a:moveTo>
                  <a:pt x="0" y="0"/>
                </a:moveTo>
                <a:lnTo>
                  <a:pt x="2187560" y="0"/>
                </a:lnTo>
                <a:lnTo>
                  <a:pt x="2187560" y="3651284"/>
                </a:lnTo>
                <a:lnTo>
                  <a:pt x="0" y="365128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5017598" y="2776725"/>
            <a:ext cx="448450" cy="655919"/>
          </a:xfrm>
          <a:custGeom>
            <a:avLst/>
            <a:gdLst/>
            <a:ahLst/>
            <a:cxnLst/>
            <a:rect l="l" t="t" r="r" b="b"/>
            <a:pathLst>
              <a:path w="448450" h="655919">
                <a:moveTo>
                  <a:pt x="0" y="0"/>
                </a:moveTo>
                <a:lnTo>
                  <a:pt x="448450" y="0"/>
                </a:lnTo>
                <a:lnTo>
                  <a:pt x="44845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5236354" y="634055"/>
            <a:ext cx="2625072" cy="4733550"/>
          </a:xfrm>
          <a:custGeom>
            <a:avLst/>
            <a:gdLst/>
            <a:ahLst/>
            <a:cxnLst/>
            <a:rect l="l" t="t" r="r" b="b"/>
            <a:pathLst>
              <a:path w="2625072" h="4733550">
                <a:moveTo>
                  <a:pt x="0" y="0"/>
                </a:moveTo>
                <a:lnTo>
                  <a:pt x="2625072" y="0"/>
                </a:lnTo>
                <a:lnTo>
                  <a:pt x="2625072" y="4733551"/>
                </a:lnTo>
                <a:lnTo>
                  <a:pt x="0" y="4733551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5455110" y="1497682"/>
            <a:ext cx="2187560" cy="3651284"/>
          </a:xfrm>
          <a:custGeom>
            <a:avLst/>
            <a:gdLst/>
            <a:ahLst/>
            <a:cxnLst/>
            <a:rect l="l" t="t" r="r" b="b"/>
            <a:pathLst>
              <a:path w="2187560" h="3651284">
                <a:moveTo>
                  <a:pt x="0" y="0"/>
                </a:moveTo>
                <a:lnTo>
                  <a:pt x="2187560" y="0"/>
                </a:lnTo>
                <a:lnTo>
                  <a:pt x="2187560" y="3651284"/>
                </a:lnTo>
                <a:lnTo>
                  <a:pt x="0" y="3651284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426574" y="5564382"/>
            <a:ext cx="9592450" cy="4296271"/>
          </a:xfrm>
          <a:custGeom>
            <a:avLst/>
            <a:gdLst/>
            <a:ahLst/>
            <a:cxnLst/>
            <a:rect l="l" t="t" r="r" b="b"/>
            <a:pathLst>
              <a:path w="9592450" h="4296271">
                <a:moveTo>
                  <a:pt x="0" y="0"/>
                </a:moveTo>
                <a:lnTo>
                  <a:pt x="9592450" y="0"/>
                </a:lnTo>
                <a:lnTo>
                  <a:pt x="9592450" y="4296270"/>
                </a:lnTo>
                <a:lnTo>
                  <a:pt x="0" y="429627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864086" y="6854356"/>
            <a:ext cx="8717426" cy="218640"/>
          </a:xfrm>
          <a:custGeom>
            <a:avLst/>
            <a:gdLst/>
            <a:ahLst/>
            <a:cxnLst/>
            <a:rect l="l" t="t" r="r" b="b"/>
            <a:pathLst>
              <a:path w="8717426" h="218640">
                <a:moveTo>
                  <a:pt x="0" y="0"/>
                </a:moveTo>
                <a:lnTo>
                  <a:pt x="8717426" y="0"/>
                </a:lnTo>
                <a:lnTo>
                  <a:pt x="8717426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864086" y="7499343"/>
            <a:ext cx="8717426" cy="218640"/>
          </a:xfrm>
          <a:custGeom>
            <a:avLst/>
            <a:gdLst/>
            <a:ahLst/>
            <a:cxnLst/>
            <a:rect l="l" t="t" r="r" b="b"/>
            <a:pathLst>
              <a:path w="8717426" h="218640">
                <a:moveTo>
                  <a:pt x="0" y="0"/>
                </a:moveTo>
                <a:lnTo>
                  <a:pt x="8717426" y="0"/>
                </a:lnTo>
                <a:lnTo>
                  <a:pt x="8717426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864086" y="8133399"/>
            <a:ext cx="8717426" cy="229572"/>
          </a:xfrm>
          <a:custGeom>
            <a:avLst/>
            <a:gdLst/>
            <a:ahLst/>
            <a:cxnLst/>
            <a:rect l="l" t="t" r="r" b="b"/>
            <a:pathLst>
              <a:path w="8717426" h="229572">
                <a:moveTo>
                  <a:pt x="0" y="0"/>
                </a:moveTo>
                <a:lnTo>
                  <a:pt x="8717426" y="0"/>
                </a:lnTo>
                <a:lnTo>
                  <a:pt x="8717426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864086" y="8778386"/>
            <a:ext cx="8717426" cy="229572"/>
          </a:xfrm>
          <a:custGeom>
            <a:avLst/>
            <a:gdLst/>
            <a:ahLst/>
            <a:cxnLst/>
            <a:rect l="l" t="t" r="r" b="b"/>
            <a:pathLst>
              <a:path w="8717426" h="229572">
                <a:moveTo>
                  <a:pt x="0" y="0"/>
                </a:moveTo>
                <a:lnTo>
                  <a:pt x="8717426" y="0"/>
                </a:lnTo>
                <a:lnTo>
                  <a:pt x="8717426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864086" y="6428009"/>
            <a:ext cx="8717426" cy="218640"/>
          </a:xfrm>
          <a:custGeom>
            <a:avLst/>
            <a:gdLst/>
            <a:ahLst/>
            <a:cxnLst/>
            <a:rect l="l" t="t" r="r" b="b"/>
            <a:pathLst>
              <a:path w="8717426" h="218640">
                <a:moveTo>
                  <a:pt x="0" y="0"/>
                </a:moveTo>
                <a:lnTo>
                  <a:pt x="8717426" y="0"/>
                </a:lnTo>
                <a:lnTo>
                  <a:pt x="8717426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3913982" y="6506351"/>
            <a:ext cx="415031" cy="315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4"/>
              </a:lnSpc>
            </a:pPr>
            <a:r>
              <a:rPr lang="en-US" sz="1863" spc="-37">
                <a:solidFill>
                  <a:srgbClr val="6D7EF4"/>
                </a:solidFill>
                <a:latin typeface="Aileron"/>
                <a:ea typeface="Aileron"/>
                <a:cs typeface="Aileron"/>
                <a:sym typeface="Aileron"/>
              </a:rPr>
              <a:t>BFS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892340" y="6495822"/>
            <a:ext cx="423097" cy="327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15"/>
              </a:lnSpc>
            </a:pPr>
            <a:r>
              <a:rPr lang="en-US" sz="1810" spc="-36">
                <a:solidFill>
                  <a:srgbClr val="8C52FF"/>
                </a:solidFill>
                <a:latin typeface="Aileron"/>
                <a:ea typeface="Aileron"/>
                <a:cs typeface="Aileron"/>
                <a:sym typeface="Aileron"/>
              </a:rPr>
              <a:t>DFS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510097" y="6495822"/>
            <a:ext cx="1762963" cy="327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5"/>
              </a:lnSpc>
            </a:pPr>
            <a:r>
              <a:rPr lang="en-US" sz="1810" b="1" spc="-36">
                <a:solidFill>
                  <a:srgbClr val="1DB6C4"/>
                </a:solidFill>
                <a:latin typeface="Aileron Bold"/>
                <a:ea typeface="Aileron Bold"/>
                <a:cs typeface="Aileron Bold"/>
                <a:sym typeface="Aileron Bold"/>
              </a:rPr>
              <a:t>BACKTRACKING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05288" y="7726279"/>
            <a:ext cx="1269641" cy="315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4"/>
              </a:lnSpc>
            </a:pPr>
            <a:r>
              <a:rPr lang="en-US" sz="1863" spc="-37">
                <a:solidFill>
                  <a:srgbClr val="F4F4F4"/>
                </a:solidFill>
                <a:latin typeface="Aileron"/>
                <a:ea typeface="Aileron"/>
                <a:cs typeface="Aileron"/>
                <a:sym typeface="Aileron"/>
              </a:rPr>
              <a:t>Visited Cells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924183" y="7715750"/>
            <a:ext cx="394629" cy="327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15"/>
              </a:lnSpc>
            </a:pPr>
            <a:r>
              <a:rPr lang="en-US" sz="1810" spc="-36">
                <a:solidFill>
                  <a:srgbClr val="6D7EF4"/>
                </a:solidFill>
                <a:latin typeface="Aileron"/>
                <a:ea typeface="Aileron"/>
                <a:cs typeface="Aileron"/>
                <a:sym typeface="Aileron"/>
              </a:rPr>
              <a:t>512</a:t>
            </a:r>
          </a:p>
        </p:txBody>
      </p:sp>
      <p:sp>
        <p:nvSpPr>
          <p:cNvPr id="30" name="Freeform 30"/>
          <p:cNvSpPr/>
          <p:nvPr/>
        </p:nvSpPr>
        <p:spPr>
          <a:xfrm>
            <a:off x="10226842" y="5564382"/>
            <a:ext cx="7634584" cy="4296271"/>
          </a:xfrm>
          <a:custGeom>
            <a:avLst/>
            <a:gdLst/>
            <a:ahLst/>
            <a:cxnLst/>
            <a:rect l="l" t="t" r="r" b="b"/>
            <a:pathLst>
              <a:path w="7634584" h="4296271">
                <a:moveTo>
                  <a:pt x="0" y="0"/>
                </a:moveTo>
                <a:lnTo>
                  <a:pt x="7634584" y="0"/>
                </a:lnTo>
                <a:lnTo>
                  <a:pt x="7634584" y="4296270"/>
                </a:lnTo>
                <a:lnTo>
                  <a:pt x="0" y="4296270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10445598" y="7280704"/>
            <a:ext cx="7197072" cy="229572"/>
          </a:xfrm>
          <a:custGeom>
            <a:avLst/>
            <a:gdLst/>
            <a:ahLst/>
            <a:cxnLst/>
            <a:rect l="l" t="t" r="r" b="b"/>
            <a:pathLst>
              <a:path w="7197072" h="229572">
                <a:moveTo>
                  <a:pt x="0" y="0"/>
                </a:moveTo>
                <a:lnTo>
                  <a:pt x="7197072" y="0"/>
                </a:lnTo>
                <a:lnTo>
                  <a:pt x="7197072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10445598" y="8570678"/>
            <a:ext cx="7197072" cy="218640"/>
          </a:xfrm>
          <a:custGeom>
            <a:avLst/>
            <a:gdLst/>
            <a:ahLst/>
            <a:cxnLst/>
            <a:rect l="l" t="t" r="r" b="b"/>
            <a:pathLst>
              <a:path w="7197072" h="218640">
                <a:moveTo>
                  <a:pt x="0" y="0"/>
                </a:moveTo>
                <a:lnTo>
                  <a:pt x="7197072" y="0"/>
                </a:lnTo>
                <a:lnTo>
                  <a:pt x="7197072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/>
            </a:stretch>
          </a:blipFill>
        </p:spPr>
      </p:sp>
      <p:sp>
        <p:nvSpPr>
          <p:cNvPr id="33" name="TextBox 33"/>
          <p:cNvSpPr txBox="1"/>
          <p:nvPr/>
        </p:nvSpPr>
        <p:spPr>
          <a:xfrm>
            <a:off x="10635258" y="8900330"/>
            <a:ext cx="5357812" cy="421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81"/>
              </a:lnSpc>
            </a:pPr>
            <a:r>
              <a:rPr lang="en-US" sz="2387" spc="-47">
                <a:solidFill>
                  <a:srgbClr val="F4F4F4"/>
                </a:solidFill>
                <a:latin typeface="Aileron"/>
                <a:ea typeface="Aileron"/>
                <a:cs typeface="Aileron"/>
                <a:sym typeface="Aileron"/>
              </a:rPr>
              <a:t>Enables direct comparison for learners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635258" y="7815949"/>
            <a:ext cx="5357812" cy="421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81"/>
              </a:lnSpc>
            </a:pPr>
            <a:r>
              <a:rPr lang="en-US" sz="2387" spc="-47">
                <a:solidFill>
                  <a:srgbClr val="F4F4F4"/>
                </a:solidFill>
                <a:latin typeface="Aileron"/>
                <a:ea typeface="Aileron"/>
                <a:cs typeface="Aileron"/>
                <a:sym typeface="Aileron"/>
              </a:rPr>
              <a:t>Visualizes algorithm behavior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91195" y="5873230"/>
            <a:ext cx="4152305" cy="406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82"/>
              </a:lnSpc>
            </a:pPr>
            <a:r>
              <a:rPr lang="en-US" sz="2321" b="1" spc="-46">
                <a:solidFill>
                  <a:srgbClr val="6D7EF4"/>
                </a:solidFill>
                <a:latin typeface="Aileron Bold"/>
                <a:ea typeface="Aileron Bold"/>
                <a:cs typeface="Aileron Bold"/>
                <a:sym typeface="Aileron Bold"/>
              </a:rPr>
              <a:t>PERFORMANCE COMPARISON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0635258" y="5873230"/>
            <a:ext cx="4152305" cy="406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82"/>
              </a:lnSpc>
            </a:pPr>
            <a:r>
              <a:rPr lang="en-US" sz="2321" b="1" spc="-46">
                <a:solidFill>
                  <a:srgbClr val="6D7EF4"/>
                </a:solidFill>
                <a:latin typeface="Aileron Bold"/>
                <a:ea typeface="Aileron Bold"/>
                <a:cs typeface="Aileron Bold"/>
                <a:sym typeface="Aileron Bold"/>
              </a:rPr>
              <a:t>REAL LEARNING BENEFITS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16148" y="918213"/>
            <a:ext cx="4152305" cy="406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82"/>
              </a:lnSpc>
            </a:pPr>
            <a:r>
              <a:rPr lang="en-US" sz="2321" b="1" spc="-46">
                <a:solidFill>
                  <a:srgbClr val="6D7EF4"/>
                </a:solidFill>
                <a:latin typeface="Aileron Bold"/>
                <a:ea typeface="Aileron Bold"/>
                <a:cs typeface="Aileron Bold"/>
                <a:sym typeface="Aileron Bold"/>
              </a:rPr>
              <a:t>DEMO &amp; IMPACT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397546" y="1083779"/>
            <a:ext cx="2302471" cy="274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20"/>
              </a:lnSpc>
            </a:pPr>
            <a:r>
              <a:rPr lang="en-US" sz="1546" b="1" spc="-30">
                <a:solidFill>
                  <a:srgbClr val="8C52FF"/>
                </a:solidFill>
                <a:latin typeface="Aileron Bold"/>
                <a:ea typeface="Aileron Bold"/>
                <a:cs typeface="Aileron Bold"/>
                <a:sym typeface="Aileron Bold"/>
              </a:rPr>
              <a:t>ALGORITHM MOVEMENT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002018" y="8328712"/>
            <a:ext cx="1596662" cy="315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4"/>
              </a:lnSpc>
            </a:pPr>
            <a:r>
              <a:rPr lang="en-US" sz="1863" spc="-37">
                <a:solidFill>
                  <a:srgbClr val="F4F4F4"/>
                </a:solidFill>
                <a:latin typeface="Aileron"/>
                <a:ea typeface="Aileron"/>
                <a:cs typeface="Aileron"/>
                <a:sym typeface="Aileron"/>
              </a:rPr>
              <a:t>Execution Time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005504" y="7108784"/>
            <a:ext cx="1248056" cy="315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4"/>
              </a:lnSpc>
            </a:pPr>
            <a:r>
              <a:rPr lang="en-US" sz="1863" spc="-37">
                <a:solidFill>
                  <a:srgbClr val="F4F4F4"/>
                </a:solidFill>
                <a:latin typeface="Aileron"/>
                <a:ea typeface="Aileron"/>
                <a:cs typeface="Aileron"/>
                <a:sym typeface="Aileron"/>
              </a:rPr>
              <a:t>Path Length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0514503" y="1091365"/>
            <a:ext cx="1359824" cy="2591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4"/>
              </a:lnSpc>
            </a:pPr>
            <a:r>
              <a:rPr lang="en-US" sz="1476" b="1" spc="-29">
                <a:solidFill>
                  <a:srgbClr val="1DB6C4"/>
                </a:solidFill>
                <a:latin typeface="Aileron Bold"/>
                <a:ea typeface="Aileron Bold"/>
                <a:cs typeface="Aileron Bold"/>
                <a:sym typeface="Aileron Bold"/>
              </a:rPr>
              <a:t>VISITED CELLS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6033842" y="1091365"/>
            <a:ext cx="1280684" cy="2591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4"/>
              </a:lnSpc>
            </a:pPr>
            <a:r>
              <a:rPr lang="en-US" sz="1476" b="1" spc="-29">
                <a:solidFill>
                  <a:srgbClr val="1DB6C4"/>
                </a:solidFill>
                <a:latin typeface="Aileron Bold"/>
                <a:ea typeface="Aileron Bold"/>
                <a:cs typeface="Aileron Bold"/>
                <a:sym typeface="Aileron Bold"/>
              </a:rPr>
              <a:t>DESTINATION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5238245" y="1083779"/>
            <a:ext cx="1241164" cy="274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20"/>
              </a:lnSpc>
            </a:pPr>
            <a:r>
              <a:rPr lang="en-US" sz="1546" b="1" spc="-30">
                <a:solidFill>
                  <a:srgbClr val="6D7EF4"/>
                </a:solidFill>
                <a:latin typeface="Aileron Bold"/>
                <a:ea typeface="Aileron Bold"/>
                <a:cs typeface="Aileron Bold"/>
                <a:sym typeface="Aileron Bold"/>
              </a:rPr>
              <a:t>MAZE WALLS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3383275" y="1083779"/>
            <a:ext cx="1125626" cy="274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20"/>
              </a:lnSpc>
            </a:pPr>
            <a:r>
              <a:rPr lang="en-US" sz="1546" b="1" spc="-30">
                <a:solidFill>
                  <a:srgbClr val="8C52FF"/>
                </a:solidFill>
                <a:latin typeface="Aileron Bold"/>
                <a:ea typeface="Aileron Bold"/>
                <a:cs typeface="Aileron Bold"/>
                <a:sym typeface="Aileron Bold"/>
              </a:rPr>
              <a:t>FINAL PATH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5780487" y="8328712"/>
            <a:ext cx="646803" cy="315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4"/>
              </a:lnSpc>
            </a:pPr>
            <a:r>
              <a:rPr lang="en-US" sz="1863" spc="-37">
                <a:solidFill>
                  <a:srgbClr val="8C52FF"/>
                </a:solidFill>
                <a:latin typeface="Aileron"/>
                <a:ea typeface="Aileron"/>
                <a:cs typeface="Aileron"/>
                <a:sym typeface="Aileron"/>
              </a:rPr>
              <a:t>73 ms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3798096" y="8328712"/>
            <a:ext cx="646803" cy="315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4"/>
              </a:lnSpc>
            </a:pPr>
            <a:r>
              <a:rPr lang="en-US" sz="1863" spc="-37">
                <a:solidFill>
                  <a:srgbClr val="6D7EF4"/>
                </a:solidFill>
                <a:latin typeface="Aileron"/>
                <a:ea typeface="Aileron"/>
                <a:cs typeface="Aileron"/>
                <a:sym typeface="Aileron"/>
              </a:rPr>
              <a:t>28 ms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8057557" y="8328712"/>
            <a:ext cx="646803" cy="315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4"/>
              </a:lnSpc>
            </a:pPr>
            <a:r>
              <a:rPr lang="en-US" sz="1863" spc="-37">
                <a:solidFill>
                  <a:srgbClr val="1DB6C4"/>
                </a:solidFill>
                <a:latin typeface="Aileron"/>
                <a:ea typeface="Aileron"/>
                <a:cs typeface="Aileron"/>
                <a:sym typeface="Aileron"/>
              </a:rPr>
              <a:t>31 ms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012090" y="8916085"/>
            <a:ext cx="589393" cy="315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4"/>
              </a:lnSpc>
            </a:pPr>
            <a:r>
              <a:rPr lang="en-US" sz="1863" spc="-37">
                <a:solidFill>
                  <a:srgbClr val="F4F4F4"/>
                </a:solidFill>
                <a:latin typeface="Aileron"/>
                <a:ea typeface="Aileron"/>
                <a:cs typeface="Aileron"/>
                <a:sym typeface="Aileron"/>
              </a:rPr>
              <a:t>Steps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5819392" y="7715750"/>
            <a:ext cx="568991" cy="327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15"/>
              </a:lnSpc>
            </a:pPr>
            <a:r>
              <a:rPr lang="en-US" sz="1810" spc="-36">
                <a:solidFill>
                  <a:srgbClr val="8C52FF"/>
                </a:solidFill>
                <a:latin typeface="Aileron"/>
                <a:ea typeface="Aileron"/>
                <a:cs typeface="Aileron"/>
                <a:sym typeface="Aileron"/>
              </a:rPr>
              <a:t>1,246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8183644" y="7715750"/>
            <a:ext cx="394629" cy="327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15"/>
              </a:lnSpc>
            </a:pPr>
            <a:r>
              <a:rPr lang="en-US" sz="1810" spc="-36">
                <a:solidFill>
                  <a:srgbClr val="1DB6C4"/>
                </a:solidFill>
                <a:latin typeface="Aileron"/>
                <a:ea typeface="Aileron"/>
                <a:cs typeface="Aileron"/>
                <a:sym typeface="Aileron"/>
              </a:rPr>
              <a:t>489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3989954" y="8905556"/>
            <a:ext cx="263086" cy="327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15"/>
              </a:lnSpc>
            </a:pPr>
            <a:r>
              <a:rPr lang="en-US" sz="1810" spc="-36">
                <a:solidFill>
                  <a:srgbClr val="6D7EF4"/>
                </a:solidFill>
                <a:latin typeface="Aileron"/>
                <a:ea typeface="Aileron"/>
                <a:cs typeface="Aileron"/>
                <a:sym typeface="Aileron"/>
              </a:rPr>
              <a:t>42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8249415" y="8905556"/>
            <a:ext cx="263086" cy="327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15"/>
              </a:lnSpc>
            </a:pPr>
            <a:r>
              <a:rPr lang="en-US" sz="1810" spc="-36">
                <a:solidFill>
                  <a:srgbClr val="1DB6C4"/>
                </a:solidFill>
                <a:latin typeface="Aileron"/>
                <a:ea typeface="Aileron"/>
                <a:cs typeface="Aileron"/>
                <a:sym typeface="Aileron"/>
              </a:rPr>
              <a:t>42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5972345" y="8905556"/>
            <a:ext cx="263086" cy="327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15"/>
              </a:lnSpc>
            </a:pPr>
            <a:r>
              <a:rPr lang="en-US" sz="1810" spc="-36">
                <a:solidFill>
                  <a:srgbClr val="8C52FF"/>
                </a:solidFill>
                <a:latin typeface="Aileron"/>
                <a:ea typeface="Aileron"/>
                <a:cs typeface="Aileron"/>
                <a:sym typeface="Aileron"/>
              </a:rPr>
              <a:t>98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3989954" y="7098255"/>
            <a:ext cx="263086" cy="327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15"/>
              </a:lnSpc>
            </a:pPr>
            <a:r>
              <a:rPr lang="en-US" sz="1810" spc="-36">
                <a:solidFill>
                  <a:srgbClr val="6D7EF4"/>
                </a:solidFill>
                <a:latin typeface="Aileron"/>
                <a:ea typeface="Aileron"/>
                <a:cs typeface="Aileron"/>
                <a:sym typeface="Aileron"/>
              </a:rPr>
              <a:t>42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8249415" y="7098255"/>
            <a:ext cx="263086" cy="327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15"/>
              </a:lnSpc>
            </a:pPr>
            <a:r>
              <a:rPr lang="en-US" sz="1810" spc="-36">
                <a:solidFill>
                  <a:srgbClr val="1DB6C4"/>
                </a:solidFill>
                <a:latin typeface="Aileron"/>
                <a:ea typeface="Aileron"/>
                <a:cs typeface="Aileron"/>
                <a:sym typeface="Aileron"/>
              </a:rPr>
              <a:t>42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5972345" y="7098255"/>
            <a:ext cx="263086" cy="327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15"/>
              </a:lnSpc>
            </a:pPr>
            <a:r>
              <a:rPr lang="en-US" sz="1810" spc="-36">
                <a:solidFill>
                  <a:srgbClr val="8C52FF"/>
                </a:solidFill>
                <a:latin typeface="Aileron"/>
                <a:ea typeface="Aileron"/>
                <a:cs typeface="Aileron"/>
                <a:sym typeface="Aileron"/>
              </a:rPr>
              <a:t>78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55644" y="875695"/>
            <a:ext cx="8729325" cy="8641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74"/>
              </a:lnSpc>
            </a:pPr>
            <a:r>
              <a:rPr lang="en-US" sz="6574" b="1" spc="-131">
                <a:solidFill>
                  <a:srgbClr val="F4F4F4"/>
                </a:solidFill>
                <a:latin typeface="Aileron Bold"/>
                <a:ea typeface="Aileron Bold"/>
                <a:cs typeface="Aileron Bold"/>
                <a:sym typeface="Aileron Bold"/>
              </a:rPr>
              <a:t>The Future of MazeLab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17465" y="1897967"/>
            <a:ext cx="2547291" cy="404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6"/>
              </a:lnSpc>
            </a:pPr>
            <a:r>
              <a:rPr lang="en-US" sz="3036" b="1" spc="-60">
                <a:solidFill>
                  <a:srgbClr val="9966E6"/>
                </a:solidFill>
                <a:latin typeface="Aileron Bold"/>
                <a:ea typeface="Aileron Bold"/>
                <a:cs typeface="Aileron Bold"/>
                <a:sym typeface="Aileron Bold"/>
              </a:rPr>
              <a:t>WHAT’S NEXT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88132" y="2921030"/>
            <a:ext cx="5480535" cy="415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68"/>
              </a:lnSpc>
            </a:pPr>
            <a:r>
              <a:rPr lang="en-US" sz="3168" spc="-63">
                <a:solidFill>
                  <a:srgbClr val="F4F4F4"/>
                </a:solidFill>
                <a:latin typeface="Aileron"/>
                <a:ea typeface="Aileron"/>
                <a:cs typeface="Aileron"/>
                <a:sym typeface="Aileron"/>
              </a:rPr>
              <a:t>New algorithms: Dijkstra and A*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07811" y="3628890"/>
            <a:ext cx="3512669" cy="415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68"/>
              </a:lnSpc>
            </a:pPr>
            <a:r>
              <a:rPr lang="en-US" sz="3168" spc="-63">
                <a:solidFill>
                  <a:srgbClr val="F4F4F4"/>
                </a:solidFill>
                <a:latin typeface="Aileron"/>
                <a:ea typeface="Aileron"/>
                <a:cs typeface="Aileron"/>
                <a:sym typeface="Aileron"/>
              </a:rPr>
              <a:t>Custom maze editor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78556" y="4351810"/>
            <a:ext cx="6438173" cy="415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68"/>
              </a:lnSpc>
            </a:pPr>
            <a:r>
              <a:rPr lang="en-US" sz="3168" spc="-63">
                <a:solidFill>
                  <a:srgbClr val="F4F4F4"/>
                </a:solidFill>
                <a:latin typeface="Aileron"/>
                <a:ea typeface="Aileron"/>
                <a:cs typeface="Aileron"/>
                <a:sym typeface="Aileron"/>
              </a:rPr>
              <a:t>Advanced analytics and larger mazes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86757" y="5030385"/>
            <a:ext cx="5618047" cy="414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2"/>
              </a:lnSpc>
            </a:pPr>
            <a:r>
              <a:rPr lang="en-US" sz="3102" spc="-62">
                <a:solidFill>
                  <a:srgbClr val="F4F4F4"/>
                </a:solidFill>
                <a:latin typeface="Aileron"/>
                <a:ea typeface="Aileron"/>
                <a:cs typeface="Aileron"/>
                <a:sym typeface="Aileron"/>
              </a:rPr>
              <a:t>Multiplayer algorithm challenges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96002" y="5737408"/>
            <a:ext cx="4693546" cy="415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68"/>
              </a:lnSpc>
            </a:pPr>
            <a:r>
              <a:rPr lang="en-US" sz="3168" spc="-63">
                <a:solidFill>
                  <a:srgbClr val="F4F4F4"/>
                </a:solidFill>
                <a:latin typeface="Aileron"/>
                <a:ea typeface="Aileron"/>
                <a:cs typeface="Aileron"/>
                <a:sym typeface="Aileron"/>
              </a:rPr>
              <a:t>Educational difficulty levels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87596" y="6445267"/>
            <a:ext cx="5534110" cy="415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68"/>
              </a:lnSpc>
            </a:pPr>
            <a:r>
              <a:rPr lang="en-US" sz="3168" spc="-63">
                <a:solidFill>
                  <a:srgbClr val="F4F4F4"/>
                </a:solidFill>
                <a:latin typeface="Aileron"/>
                <a:ea typeface="Aileron"/>
                <a:cs typeface="Aileron"/>
                <a:sym typeface="Aileron"/>
              </a:rPr>
              <a:t>Scalable classroom deployment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85109" y="7649782"/>
            <a:ext cx="3103910" cy="7747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16"/>
              </a:lnSpc>
            </a:pPr>
            <a:r>
              <a:rPr lang="en-US" sz="5816" b="1" spc="-116">
                <a:solidFill>
                  <a:srgbClr val="F4F4F4"/>
                </a:solidFill>
                <a:latin typeface="Aileron Bold"/>
                <a:ea typeface="Aileron Bold"/>
                <a:cs typeface="Aileron Bold"/>
                <a:sym typeface="Aileron Bold"/>
              </a:rPr>
              <a:t>MazeLab</a:t>
            </a:r>
          </a:p>
        </p:txBody>
      </p:sp>
      <p:sp>
        <p:nvSpPr>
          <p:cNvPr id="12" name="Freeform 12"/>
          <p:cNvSpPr/>
          <p:nvPr/>
        </p:nvSpPr>
        <p:spPr>
          <a:xfrm>
            <a:off x="3915732" y="7925691"/>
            <a:ext cx="656268" cy="218640"/>
          </a:xfrm>
          <a:custGeom>
            <a:avLst/>
            <a:gdLst/>
            <a:ahLst/>
            <a:cxnLst/>
            <a:rect l="l" t="t" r="r" b="b"/>
            <a:pathLst>
              <a:path w="656268" h="218640">
                <a:moveTo>
                  <a:pt x="0" y="0"/>
                </a:moveTo>
                <a:lnTo>
                  <a:pt x="656268" y="0"/>
                </a:lnTo>
                <a:lnTo>
                  <a:pt x="656268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4553817" y="7785886"/>
            <a:ext cx="10747991" cy="5791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94"/>
              </a:lnSpc>
            </a:pPr>
            <a:r>
              <a:rPr lang="en-US" sz="4394" b="1" spc="-87">
                <a:solidFill>
                  <a:srgbClr val="25AEE6"/>
                </a:solidFill>
                <a:latin typeface="Aileron Bold"/>
                <a:ea typeface="Aileron Bold"/>
                <a:cs typeface="Aileron Bold"/>
                <a:sym typeface="Aileron Bold"/>
              </a:rPr>
              <a:t>Visualize. </a:t>
            </a:r>
            <a:r>
              <a:rPr lang="en-US" sz="4394" b="1" spc="-87">
                <a:solidFill>
                  <a:srgbClr val="9966E6"/>
                </a:solidFill>
                <a:latin typeface="Aileron Bold"/>
                <a:ea typeface="Aileron Bold"/>
                <a:cs typeface="Aileron Bold"/>
                <a:sym typeface="Aileron Bold"/>
              </a:rPr>
              <a:t>Explore. </a:t>
            </a:r>
            <a:r>
              <a:rPr lang="en-US" sz="4394" b="1" spc="-87">
                <a:solidFill>
                  <a:srgbClr val="1CD0DB"/>
                </a:solidFill>
                <a:latin typeface="Aileron Bold"/>
                <a:ea typeface="Aileron Bold"/>
                <a:cs typeface="Aileron Bold"/>
                <a:sym typeface="Aileron Bold"/>
              </a:rPr>
              <a:t>Understand Algorithms.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16678" y="8991492"/>
            <a:ext cx="2625944" cy="568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89"/>
              </a:lnSpc>
            </a:pPr>
            <a:r>
              <a:rPr lang="en-US" sz="4289" b="1" spc="-85">
                <a:solidFill>
                  <a:srgbClr val="9966E6"/>
                </a:solidFill>
                <a:latin typeface="Aileron Bold"/>
                <a:ea typeface="Aileron Bold"/>
                <a:cs typeface="Aileron Bold"/>
                <a:sym typeface="Aileron Bold"/>
              </a:rPr>
              <a:t>Thank you</a:t>
            </a:r>
          </a:p>
        </p:txBody>
      </p:sp>
      <p:sp>
        <p:nvSpPr>
          <p:cNvPr id="15" name="Freeform 15"/>
          <p:cNvSpPr/>
          <p:nvPr/>
        </p:nvSpPr>
        <p:spPr>
          <a:xfrm>
            <a:off x="3478220" y="8778386"/>
            <a:ext cx="229694" cy="874559"/>
          </a:xfrm>
          <a:custGeom>
            <a:avLst/>
            <a:gdLst/>
            <a:ahLst/>
            <a:cxnLst/>
            <a:rect l="l" t="t" r="r" b="b"/>
            <a:pathLst>
              <a:path w="229694" h="874559">
                <a:moveTo>
                  <a:pt x="0" y="0"/>
                </a:moveTo>
                <a:lnTo>
                  <a:pt x="229694" y="0"/>
                </a:lnTo>
                <a:lnTo>
                  <a:pt x="229694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3980147" y="8990823"/>
            <a:ext cx="1142324" cy="569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41"/>
              </a:lnSpc>
            </a:pPr>
            <a:r>
              <a:rPr lang="en-US" sz="4341" b="1" spc="-86">
                <a:solidFill>
                  <a:srgbClr val="25AEE6"/>
                </a:solidFill>
                <a:latin typeface="Aileron Bold"/>
                <a:ea typeface="Aileron Bold"/>
                <a:cs typeface="Aileron Bold"/>
                <a:sym typeface="Aileron Bold"/>
              </a:rPr>
              <a:t>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426</Words>
  <Application>Microsoft Office PowerPoint</Application>
  <PresentationFormat>Custom</PresentationFormat>
  <Paragraphs>188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20" baseType="lpstr">
      <vt:lpstr>Aileron Bold</vt:lpstr>
      <vt:lpstr>Calibri</vt:lpstr>
      <vt:lpstr>League Spartan</vt:lpstr>
      <vt:lpstr>Aileron</vt:lpstr>
      <vt:lpstr>Lato Bold Italics</vt:lpstr>
      <vt:lpstr>Prata</vt:lpstr>
      <vt:lpstr>Le Jour Serif</vt:lpstr>
      <vt:lpstr>Arial</vt:lpstr>
      <vt:lpstr>Aileron Ultra-Bold</vt:lpstr>
      <vt:lpstr>Now Medium</vt:lpstr>
      <vt:lpstr>Now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MazeLab Hackathon Presentation</dc:title>
  <dc:creator>gopi chand</dc:creator>
  <cp:lastModifiedBy>Akshith Kotipalli</cp:lastModifiedBy>
  <cp:revision>4</cp:revision>
  <dcterms:created xsi:type="dcterms:W3CDTF">2006-08-16T00:00:00Z</dcterms:created>
  <dcterms:modified xsi:type="dcterms:W3CDTF">2026-10-03T09:16:56Z</dcterms:modified>
  <dc:identifier>DAHW8J9bfpw</dc:identifier>
</cp:coreProperties>
</file>